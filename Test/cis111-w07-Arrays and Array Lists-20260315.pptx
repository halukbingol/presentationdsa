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29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</p:sldIdLst>
  <p:sldSz cx="7315200" cy="5486400" type="B5JIS"/>
  <p:notesSz cx="7315200" cy="548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9" roundtripDataSignature="AMtx7mhenDBIM18hA3MN5/ppix50Egbz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296"/>
    <p:restoredTop sz="93239"/>
  </p:normalViewPr>
  <p:slideViewPr>
    <p:cSldViewPr snapToGrid="0">
      <p:cViewPr>
        <p:scale>
          <a:sx n="150" d="100"/>
          <a:sy n="150" d="100"/>
        </p:scale>
        <p:origin x="1064" y="-4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customschemas.google.com/relationships/presentationmetadata" Target="meta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8" cy="27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375" y="0"/>
            <a:ext cx="3170238" cy="27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5211763"/>
            <a:ext cx="317023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375" y="5211763"/>
            <a:ext cx="317023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3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5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7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9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1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3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4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6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7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8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7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8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9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0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1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2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3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4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5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9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80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>
          <a:extLst>
            <a:ext uri="{FF2B5EF4-FFF2-40B4-BE49-F238E27FC236}">
              <a16:creationId xmlns:a16="http://schemas.microsoft.com/office/drawing/2014/main" id="{FD12EB62-ADBB-67B5-8F0A-5A58FF3FD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06:notes">
            <a:extLst>
              <a:ext uri="{FF2B5EF4-FFF2-40B4-BE49-F238E27FC236}">
                <a16:creationId xmlns:a16="http://schemas.microsoft.com/office/drawing/2014/main" id="{167C7533-83CF-BC63-BB25-8EC2D3093C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106:notes">
            <a:extLst>
              <a:ext uri="{FF2B5EF4-FFF2-40B4-BE49-F238E27FC236}">
                <a16:creationId xmlns:a16="http://schemas.microsoft.com/office/drawing/2014/main" id="{D038A8DF-41E5-4E4E-E591-65B65731FF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604992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93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94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95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96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99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00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06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07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08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09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10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11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12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13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14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15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16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17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18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19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20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21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122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23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129:notes"/>
          <p:cNvSpPr txBox="1">
            <a:spLocks noGrp="1"/>
          </p:cNvSpPr>
          <p:nvPr>
            <p:ph type="body" idx="1"/>
          </p:nvPr>
        </p:nvSpPr>
        <p:spPr>
          <a:xfrm>
            <a:off x="731838" y="2606675"/>
            <a:ext cx="5851525" cy="24685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411163"/>
            <a:ext cx="2743200" cy="20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1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1"/>
          <p:cNvSpPr txBox="1">
            <a:spLocks noGrp="1"/>
          </p:cNvSpPr>
          <p:nvPr>
            <p:ph type="ftr" idx="11"/>
          </p:nvPr>
        </p:nvSpPr>
        <p:spPr>
          <a:xfrm>
            <a:off x="2487168" y="5102352"/>
            <a:ext cx="2340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TR"/>
              <a:t>73</a:t>
            </a:r>
            <a:endParaRPr/>
          </a:p>
        </p:txBody>
      </p:sp>
      <p:sp>
        <p:nvSpPr>
          <p:cNvPr id="18" name="Google Shape;18;p131"/>
          <p:cNvSpPr txBox="1">
            <a:spLocks noGrp="1"/>
          </p:cNvSpPr>
          <p:nvPr>
            <p:ph type="dt" idx="10"/>
          </p:nvPr>
        </p:nvSpPr>
        <p:spPr>
          <a:xfrm>
            <a:off x="365760" y="5102352"/>
            <a:ext cx="16824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1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2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2"/>
          <p:cNvSpPr txBox="1">
            <a:spLocks noGrp="1"/>
          </p:cNvSpPr>
          <p:nvPr>
            <p:ph type="body" idx="1"/>
          </p:nvPr>
        </p:nvSpPr>
        <p:spPr>
          <a:xfrm>
            <a:off x="842374" y="1268008"/>
            <a:ext cx="563045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2"/>
          <p:cNvSpPr txBox="1">
            <a:spLocks noGrp="1"/>
          </p:cNvSpPr>
          <p:nvPr>
            <p:ph type="ftr" idx="11"/>
          </p:nvPr>
        </p:nvSpPr>
        <p:spPr>
          <a:xfrm>
            <a:off x="2487168" y="5102352"/>
            <a:ext cx="2340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TR"/>
              <a:t>73</a:t>
            </a:r>
            <a:endParaRPr/>
          </a:p>
        </p:txBody>
      </p:sp>
      <p:sp>
        <p:nvSpPr>
          <p:cNvPr id="24" name="Google Shape;24;p132"/>
          <p:cNvSpPr txBox="1">
            <a:spLocks noGrp="1"/>
          </p:cNvSpPr>
          <p:nvPr>
            <p:ph type="dt" idx="10"/>
          </p:nvPr>
        </p:nvSpPr>
        <p:spPr>
          <a:xfrm>
            <a:off x="365760" y="5102352"/>
            <a:ext cx="16824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2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33"/>
          <p:cNvSpPr txBox="1">
            <a:spLocks noGrp="1"/>
          </p:cNvSpPr>
          <p:nvPr>
            <p:ph type="ctrTitle"/>
          </p:nvPr>
        </p:nvSpPr>
        <p:spPr>
          <a:xfrm>
            <a:off x="548640" y="1700784"/>
            <a:ext cx="6217920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33"/>
          <p:cNvSpPr txBox="1">
            <a:spLocks noGrp="1"/>
          </p:cNvSpPr>
          <p:nvPr>
            <p:ph type="subTitle" idx="1"/>
          </p:nvPr>
        </p:nvSpPr>
        <p:spPr>
          <a:xfrm>
            <a:off x="1097280" y="3072384"/>
            <a:ext cx="51206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3"/>
          <p:cNvSpPr txBox="1">
            <a:spLocks noGrp="1"/>
          </p:cNvSpPr>
          <p:nvPr>
            <p:ph type="ftr" idx="11"/>
          </p:nvPr>
        </p:nvSpPr>
        <p:spPr>
          <a:xfrm>
            <a:off x="2487168" y="5102352"/>
            <a:ext cx="2340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TR"/>
              <a:t>73</a:t>
            </a:r>
            <a:endParaRPr/>
          </a:p>
        </p:txBody>
      </p:sp>
      <p:sp>
        <p:nvSpPr>
          <p:cNvPr id="30" name="Google Shape;30;p133"/>
          <p:cNvSpPr txBox="1">
            <a:spLocks noGrp="1"/>
          </p:cNvSpPr>
          <p:nvPr>
            <p:ph type="dt" idx="10"/>
          </p:nvPr>
        </p:nvSpPr>
        <p:spPr>
          <a:xfrm>
            <a:off x="365760" y="5102352"/>
            <a:ext cx="16824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3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4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4"/>
          <p:cNvSpPr txBox="1">
            <a:spLocks noGrp="1"/>
          </p:cNvSpPr>
          <p:nvPr>
            <p:ph type="body" idx="1"/>
          </p:nvPr>
        </p:nvSpPr>
        <p:spPr>
          <a:xfrm>
            <a:off x="365760" y="1261872"/>
            <a:ext cx="3182112" cy="362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4"/>
          <p:cNvSpPr txBox="1">
            <a:spLocks noGrp="1"/>
          </p:cNvSpPr>
          <p:nvPr>
            <p:ph type="body" idx="2"/>
          </p:nvPr>
        </p:nvSpPr>
        <p:spPr>
          <a:xfrm>
            <a:off x="3767328" y="1261872"/>
            <a:ext cx="3182112" cy="362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4"/>
          <p:cNvSpPr txBox="1">
            <a:spLocks noGrp="1"/>
          </p:cNvSpPr>
          <p:nvPr>
            <p:ph type="ftr" idx="11"/>
          </p:nvPr>
        </p:nvSpPr>
        <p:spPr>
          <a:xfrm>
            <a:off x="2487168" y="5102352"/>
            <a:ext cx="2340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TR"/>
              <a:t>73</a:t>
            </a:r>
            <a:endParaRPr/>
          </a:p>
        </p:txBody>
      </p:sp>
      <p:sp>
        <p:nvSpPr>
          <p:cNvPr id="37" name="Google Shape;37;p134"/>
          <p:cNvSpPr txBox="1">
            <a:spLocks noGrp="1"/>
          </p:cNvSpPr>
          <p:nvPr>
            <p:ph type="dt" idx="10"/>
          </p:nvPr>
        </p:nvSpPr>
        <p:spPr>
          <a:xfrm>
            <a:off x="365760" y="5102352"/>
            <a:ext cx="16824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4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5"/>
          <p:cNvSpPr txBox="1">
            <a:spLocks noGrp="1"/>
          </p:cNvSpPr>
          <p:nvPr>
            <p:ph type="ftr" idx="11"/>
          </p:nvPr>
        </p:nvSpPr>
        <p:spPr>
          <a:xfrm>
            <a:off x="2487168" y="5102352"/>
            <a:ext cx="2340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TR"/>
              <a:t>73</a:t>
            </a:r>
            <a:endParaRPr/>
          </a:p>
        </p:txBody>
      </p:sp>
      <p:sp>
        <p:nvSpPr>
          <p:cNvPr id="41" name="Google Shape;41;p135"/>
          <p:cNvSpPr txBox="1">
            <a:spLocks noGrp="1"/>
          </p:cNvSpPr>
          <p:nvPr>
            <p:ph type="dt" idx="10"/>
          </p:nvPr>
        </p:nvSpPr>
        <p:spPr>
          <a:xfrm>
            <a:off x="365760" y="5102352"/>
            <a:ext cx="16824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5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0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5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0"/>
          <p:cNvSpPr txBox="1">
            <a:spLocks noGrp="1"/>
          </p:cNvSpPr>
          <p:nvPr>
            <p:ph type="body" idx="1"/>
          </p:nvPr>
        </p:nvSpPr>
        <p:spPr>
          <a:xfrm>
            <a:off x="842374" y="1268008"/>
            <a:ext cx="563045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0"/>
          <p:cNvSpPr txBox="1">
            <a:spLocks noGrp="1"/>
          </p:cNvSpPr>
          <p:nvPr>
            <p:ph type="ftr" idx="11"/>
          </p:nvPr>
        </p:nvSpPr>
        <p:spPr>
          <a:xfrm>
            <a:off x="2487168" y="5102352"/>
            <a:ext cx="2340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TR"/>
              <a:t>73</a:t>
            </a:r>
            <a:endParaRPr/>
          </a:p>
        </p:txBody>
      </p:sp>
      <p:sp>
        <p:nvSpPr>
          <p:cNvPr id="13" name="Google Shape;13;p130"/>
          <p:cNvSpPr txBox="1">
            <a:spLocks noGrp="1"/>
          </p:cNvSpPr>
          <p:nvPr>
            <p:ph type="dt" idx="10"/>
          </p:nvPr>
        </p:nvSpPr>
        <p:spPr>
          <a:xfrm>
            <a:off x="365760" y="5102352"/>
            <a:ext cx="16824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0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/>
          <p:nvPr/>
        </p:nvSpPr>
        <p:spPr>
          <a:xfrm>
            <a:off x="603313" y="57279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6 – Arrays and Array Lists</a:t>
            </a:r>
            <a:endParaRPr/>
          </a:p>
        </p:txBody>
      </p:sp>
      <p:pic>
        <p:nvPicPr>
          <p:cNvPr id="49" name="Google Shape;49;p1" descr="bjlo2_cover_reduc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1200" y="914400"/>
            <a:ext cx="3184792" cy="398165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1FE49EA-6937-C35D-9DD8-23FD8C5C1D6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"/>
          <p:cNvSpPr/>
          <p:nvPr/>
        </p:nvSpPr>
        <p:spPr>
          <a:xfrm>
            <a:off x="603313" y="572246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Goals</a:t>
            </a:r>
            <a:endParaRPr/>
          </a:p>
        </p:txBody>
      </p:sp>
      <p:sp>
        <p:nvSpPr>
          <p:cNvPr id="57" name="Google Shape;57;p2"/>
          <p:cNvSpPr txBox="1"/>
          <p:nvPr/>
        </p:nvSpPr>
        <p:spPr>
          <a:xfrm>
            <a:off x="842374" y="3470573"/>
            <a:ext cx="5939426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collect elements using arrays and array lists</a:t>
            </a:r>
            <a:endParaRPr/>
          </a:p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use the enhanced for loop for traversing arrays and array lists</a:t>
            </a:r>
            <a:endParaRPr/>
          </a:p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learn common algorithms for processing arrays and array lists</a:t>
            </a:r>
            <a:endParaRPr/>
          </a:p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work with two-dimensional arrays</a:t>
            </a:r>
            <a:endParaRPr/>
          </a:p>
        </p:txBody>
      </p:sp>
      <p:pic>
        <p:nvPicPr>
          <p:cNvPr id="58" name="Google Shape;58;p2"/>
          <p:cNvPicPr preferRelativeResize="0"/>
          <p:nvPr/>
        </p:nvPicPr>
        <p:blipFill rotWithShape="1">
          <a:blip r:embed="rId3">
            <a:alphaModFix/>
          </a:blip>
          <a:srcRect r="11868"/>
          <a:stretch/>
        </p:blipFill>
        <p:spPr>
          <a:xfrm>
            <a:off x="685800" y="685800"/>
            <a:ext cx="363220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339AC2-C25D-618B-1B62-F1FB54CF5A4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Arrays</a:t>
            </a:r>
            <a:endParaRPr/>
          </a:p>
        </p:txBody>
      </p:sp>
      <p:sp>
        <p:nvSpPr>
          <p:cNvPr id="66" name="Google Shape;66;p3"/>
          <p:cNvSpPr txBox="1"/>
          <p:nvPr/>
        </p:nvSpPr>
        <p:spPr>
          <a:xfrm>
            <a:off x="609600" y="675854"/>
            <a:ext cx="5856969" cy="160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Computer Program often needs to store a list of values and then process them</a:t>
            </a:r>
            <a:endParaRPr/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example, if you had this list of values, how many variables would you need?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input1, input2, input3</a:t>
            </a: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….</a:t>
            </a:r>
            <a:endParaRPr/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Arrays to the rescue!</a:t>
            </a:r>
            <a:endParaRPr/>
          </a:p>
          <a:p>
            <a:pPr marL="342900" marR="0" lvl="0" indent="-34290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array collects sequences of values of the same type</a:t>
            </a:r>
            <a:endParaRPr sz="13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24600" y="609600"/>
            <a:ext cx="685800" cy="329406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68" name="Google Shape;68;p3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940C91B-464D-A33F-8F27-2EFD884D649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Declaring an Array</a:t>
            </a:r>
            <a:endParaRPr/>
          </a:p>
        </p:txBody>
      </p:sp>
      <p:sp>
        <p:nvSpPr>
          <p:cNvPr id="75" name="Google Shape;75;p4"/>
          <p:cNvSpPr txBox="1"/>
          <p:nvPr/>
        </p:nvSpPr>
        <p:spPr>
          <a:xfrm>
            <a:off x="609600" y="675854"/>
            <a:ext cx="5856969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Declaring an array is a two step process </a:t>
            </a:r>
            <a:endParaRPr/>
          </a:p>
          <a:p>
            <a:pPr marL="914400" marR="0" lvl="1" indent="-457200" algn="l" rtl="0">
              <a:spcBef>
                <a:spcPts val="35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AutoNum type="arabicParenR"/>
            </a:pPr>
            <a:r>
              <a:rPr lang="en-US" sz="1300" b="0" i="0" u="none" strike="noStrike" cap="non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1300" b="0" i="0" u="none" strike="noStrike" cap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lang="en-US" sz="1300" b="0" i="0" u="none" strike="noStrike" cap="non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values;   </a:t>
            </a:r>
            <a:r>
              <a:rPr lang="en-US" sz="1300" b="0" i="0" u="none" strike="noStrike" cap="none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// declare array variable</a:t>
            </a:r>
            <a:endParaRPr/>
          </a:p>
          <a:p>
            <a:pPr marL="914400" marR="0" lvl="1" indent="-457200" algn="l" rtl="0">
              <a:spcBef>
                <a:spcPts val="35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AutoNum type="arabicParenR"/>
            </a:pPr>
            <a:r>
              <a:rPr lang="en-US" sz="1300" b="0" i="0" u="none" strike="noStrike" cap="non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values = </a:t>
            </a:r>
            <a:r>
              <a:rPr lang="en-US" sz="1300" b="0" i="0" u="none" strike="noStrike" cap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sz="1300" b="0" i="0" u="none" strike="noStrike" cap="non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double</a:t>
            </a:r>
            <a:r>
              <a:rPr lang="en-US" sz="1300" b="0" i="0" u="none" strike="noStrike" cap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[10]</a:t>
            </a:r>
            <a:r>
              <a:rPr lang="en-US" sz="1300" b="0" i="0" u="none" strike="noStrike" cap="non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;  </a:t>
            </a:r>
            <a:r>
              <a:rPr lang="en-US" sz="1300" b="0" i="0" u="none" strike="noStrike" cap="none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// initialize array</a:t>
            </a:r>
            <a:endParaRPr/>
          </a:p>
          <a:p>
            <a:pPr marL="342900" marR="0" lvl="0" indent="-2603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endParaRPr sz="13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1752600"/>
            <a:ext cx="6248400" cy="3114902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4"/>
          <p:cNvSpPr txBox="1"/>
          <p:nvPr/>
        </p:nvSpPr>
        <p:spPr>
          <a:xfrm>
            <a:off x="1752600" y="3041303"/>
            <a:ext cx="2590800" cy="692497"/>
          </a:xfrm>
          <a:prstGeom prst="rect">
            <a:avLst/>
          </a:prstGeom>
          <a:solidFill>
            <a:srgbClr val="FFDC47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cannot use the array until you tell the compiler the size of the array in step 2.</a:t>
            </a:r>
            <a:endParaRPr/>
          </a:p>
        </p:txBody>
      </p:sp>
      <p:sp>
        <p:nvSpPr>
          <p:cNvPr id="78" name="Google Shape;78;p4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D8812B3-CE3C-1355-5B6D-C9B7D6E052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Declaring and Initializing an Array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5" name="Google Shape;85;p8"/>
          <p:cNvSpPr txBox="1"/>
          <p:nvPr/>
        </p:nvSpPr>
        <p:spPr>
          <a:xfrm>
            <a:off x="609600" y="675854"/>
            <a:ext cx="5856969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declare and set the initial contents of all elements by:</a:t>
            </a:r>
            <a:endParaRPr/>
          </a:p>
          <a:p>
            <a:pPr marL="457200" marR="0" lvl="1" indent="0" algn="l" rtl="0">
              <a:spcBef>
                <a:spcPts val="35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Type         Braces     Array name             Contents list        Semicolon</a:t>
            </a:r>
            <a:endParaRPr/>
          </a:p>
          <a:p>
            <a:pPr marL="457200" marR="0" lvl="1" indent="0" algn="l" rtl="0">
              <a:spcBef>
                <a:spcPts val="35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300" b="0" i="0" u="none" strike="noStrike" cap="none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int     [ ]     primes  =    { 2, 3, 5, 7}   ;</a:t>
            </a:r>
            <a:endParaRPr sz="13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are declaring that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is an array named </a:t>
            </a:r>
            <a:r>
              <a:rPr lang="en-US" sz="1300" b="0" i="0" u="none" strike="noStrike" cap="none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primes</a:t>
            </a:r>
            <a:endParaRPr sz="13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elements inside are of type </a:t>
            </a:r>
            <a:r>
              <a:rPr lang="en-US" sz="1300" b="0" i="0" u="none" strike="noStrike" cap="none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endParaRPr sz="1300" b="0" i="0" u="none" strike="noStrike" cap="none">
              <a:solidFill>
                <a:srgbClr val="33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Reserve space for four elements </a:t>
            </a:r>
            <a:endParaRPr/>
          </a:p>
          <a:p>
            <a:pPr marL="914400" marR="0" lvl="2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compiler counts them for you!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initial values to 2, 3, 5, and 7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the curly braces around the contents list</a:t>
            </a:r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8A1EB5-B472-7498-F704-D368664090D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Accessing Array Elements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3" name="Google Shape;93;p9"/>
          <p:cNvSpPr txBox="1"/>
          <p:nvPr/>
        </p:nvSpPr>
        <p:spPr>
          <a:xfrm>
            <a:off x="609600" y="675854"/>
            <a:ext cx="5856969" cy="132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element is numbered</a:t>
            </a:r>
            <a:endParaRPr/>
          </a:p>
          <a:p>
            <a:pPr marL="457200" marR="0" lvl="1" indent="-8255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call this the </a:t>
            </a:r>
            <a:r>
              <a:rPr lang="en-US" sz="13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endParaRPr/>
          </a:p>
          <a:p>
            <a:pPr marL="457200" marR="0" lvl="1" indent="-8255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an element by:</a:t>
            </a:r>
            <a:endParaRPr/>
          </a:p>
          <a:p>
            <a:pPr marL="914400" marR="0" lvl="2" indent="-8255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 of the array</a:t>
            </a:r>
            <a:endParaRPr/>
          </a:p>
          <a:p>
            <a:pPr marL="914400" marR="0" lvl="2" indent="-8255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Index number</a:t>
            </a:r>
            <a:endParaRPr/>
          </a:p>
          <a:p>
            <a:pPr marL="914400" marR="0" lvl="2" indent="-82550" algn="l" rtl="0">
              <a:spcBef>
                <a:spcPts val="2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1300" b="0" i="0" u="none" strike="noStrike" cap="none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values[i]</a:t>
            </a:r>
            <a:endParaRPr sz="13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4" name="Google Shape;9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95600" y="2209800"/>
            <a:ext cx="3325475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9"/>
          <p:cNvSpPr txBox="1"/>
          <p:nvPr/>
        </p:nvSpPr>
        <p:spPr>
          <a:xfrm>
            <a:off x="457200" y="3048000"/>
            <a:ext cx="3962400" cy="13716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main(String[] args)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double values[];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values = new double[10];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values[4] = 35;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endParaRPr sz="13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6" name="Google Shape;96;p9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9CF3CA5-A22B-FF5F-D701-88C6AF2EA71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"/>
          <p:cNvSpPr/>
          <p:nvPr/>
        </p:nvSpPr>
        <p:spPr>
          <a:xfrm>
            <a:off x="606679" y="582701"/>
            <a:ext cx="5497830" cy="60960"/>
          </a:xfrm>
          <a:custGeom>
            <a:avLst/>
            <a:gdLst/>
            <a:ahLst/>
            <a:cxnLst/>
            <a:rect l="l" t="t" r="r" b="b"/>
            <a:pathLst>
              <a:path w="5497830" h="60959" extrusionOk="0">
                <a:moveTo>
                  <a:pt x="0" y="0"/>
                </a:moveTo>
                <a:lnTo>
                  <a:pt x="5497268" y="0"/>
                </a:lnTo>
                <a:lnTo>
                  <a:pt x="5497268" y="60492"/>
                </a:lnTo>
                <a:lnTo>
                  <a:pt x="0" y="60492"/>
                </a:lnTo>
                <a:lnTo>
                  <a:pt x="0" y="0"/>
                </a:lnTo>
                <a:close/>
              </a:path>
            </a:pathLst>
          </a:custGeom>
          <a:solidFill>
            <a:srgbClr val="24ACA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0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25859"/>
                </a:solidFill>
              </a:rPr>
              <a:t>Syntax 6.1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Array</a:t>
            </a:r>
            <a:endParaRPr/>
          </a:p>
        </p:txBody>
      </p:sp>
      <p:pic>
        <p:nvPicPr>
          <p:cNvPr id="103" name="Google Shape;10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350" y="1138238"/>
            <a:ext cx="6286500" cy="320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E1C00B-0205-3B09-98F0-0B0E42184EA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1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Array Index Numbers</a:t>
            </a:r>
            <a:endParaRPr/>
          </a:p>
        </p:txBody>
      </p:sp>
      <p:sp>
        <p:nvSpPr>
          <p:cNvPr id="111" name="Google Shape;111;p11"/>
          <p:cNvSpPr txBox="1"/>
          <p:nvPr/>
        </p:nvSpPr>
        <p:spPr>
          <a:xfrm>
            <a:off x="842374" y="675854"/>
            <a:ext cx="5624195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 index numbers start at 0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rest are positive integers</a:t>
            </a:r>
            <a:endParaRPr/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10 element array has indices 0 through 9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rgbClr val="C00000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There is NO element 10!</a:t>
            </a:r>
            <a:endParaRPr/>
          </a:p>
        </p:txBody>
      </p:sp>
      <p:pic>
        <p:nvPicPr>
          <p:cNvPr id="112" name="Google Shape;112;p11"/>
          <p:cNvPicPr preferRelativeResize="0"/>
          <p:nvPr/>
        </p:nvPicPr>
        <p:blipFill rotWithShape="1">
          <a:blip r:embed="rId3">
            <a:alphaModFix/>
          </a:blip>
          <a:srcRect l="60455"/>
          <a:stretch/>
        </p:blipFill>
        <p:spPr>
          <a:xfrm>
            <a:off x="4953000" y="1811337"/>
            <a:ext cx="1526006" cy="306546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1"/>
          <p:cNvSpPr txBox="1"/>
          <p:nvPr/>
        </p:nvSpPr>
        <p:spPr>
          <a:xfrm>
            <a:off x="381000" y="3048000"/>
            <a:ext cx="3962400" cy="1066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main(String[] args)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double values[];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values = new double[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endParaRPr sz="13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4" name="Google Shape;114;p11"/>
          <p:cNvSpPr/>
          <p:nvPr/>
        </p:nvSpPr>
        <p:spPr>
          <a:xfrm>
            <a:off x="1295400" y="2209800"/>
            <a:ext cx="3581400" cy="76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first element is at index 0</a:t>
            </a:r>
            <a:r>
              <a:rPr lang="en-US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1"/>
          <p:cNvSpPr/>
          <p:nvPr/>
        </p:nvSpPr>
        <p:spPr>
          <a:xfrm>
            <a:off x="1295400" y="4191000"/>
            <a:ext cx="3581400" cy="76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last element is at index 9 </a:t>
            </a:r>
            <a:r>
              <a:rPr lang="en-US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1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0750AF0-B897-CEB0-07BC-10ED26E6615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2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Array Bounds Checking</a:t>
            </a:r>
            <a:endParaRPr/>
          </a:p>
        </p:txBody>
      </p:sp>
      <p:sp>
        <p:nvSpPr>
          <p:cNvPr id="123" name="Google Shape;123;p12"/>
          <p:cNvSpPr txBox="1"/>
          <p:nvPr/>
        </p:nvSpPr>
        <p:spPr>
          <a:xfrm>
            <a:off x="609600" y="675854"/>
            <a:ext cx="5856969" cy="120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array knows how many elements it can hold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values.length</a:t>
            </a:r>
            <a:r>
              <a:rPr lang="en-US" sz="1300" b="0" i="0" u="none" strike="noStrike" cap="non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size of the array named </a:t>
            </a:r>
            <a:r>
              <a:rPr lang="en-US" sz="1300" b="0" i="0" u="none" strike="noStrike" cap="none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an integer value (index of the last element + 1)</a:t>
            </a:r>
            <a:endParaRPr/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this to range check and prevent bounds errors</a:t>
            </a:r>
            <a:endParaRPr/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2"/>
          <p:cNvSpPr txBox="1"/>
          <p:nvPr/>
        </p:nvSpPr>
        <p:spPr>
          <a:xfrm>
            <a:off x="762000" y="1828800"/>
            <a:ext cx="5638800" cy="2209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main(String[] args)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int </a:t>
            </a:r>
            <a:r>
              <a:rPr lang="en-US" sz="13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10, value = 34;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double values[];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values = new double[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if (0 &lt;=</a:t>
            </a:r>
            <a:r>
              <a:rPr lang="en-US" sz="13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&amp;&amp; </a:t>
            </a:r>
            <a:r>
              <a:rPr lang="en-US" sz="13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&lt; 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values.length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  </a:t>
            </a:r>
            <a:r>
              <a:rPr lang="en-US" sz="13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// length is 10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value[</a:t>
            </a:r>
            <a:r>
              <a:rPr lang="en-US" sz="13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= value;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 b="1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5" name="Google Shape;125;p12"/>
          <p:cNvSpPr txBox="1"/>
          <p:nvPr/>
        </p:nvSpPr>
        <p:spPr>
          <a:xfrm>
            <a:off x="3276600" y="3505200"/>
            <a:ext cx="3352800" cy="892552"/>
          </a:xfrm>
          <a:prstGeom prst="rect">
            <a:avLst/>
          </a:prstGeom>
          <a:solidFill>
            <a:srgbClr val="FFDC47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Strings and arrays use different syntax to find their length: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Strings:  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name.length()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Arrays:   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values.length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6" name="Google Shape;126;p12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E26061E-7292-9AE0-3F7A-503EBD56664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Summary: Declaring Arrays</a:t>
            </a:r>
            <a:endParaRPr/>
          </a:p>
        </p:txBody>
      </p:sp>
      <p:pic>
        <p:nvPicPr>
          <p:cNvPr id="133" name="Google Shape;13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3363" y="990600"/>
            <a:ext cx="6625951" cy="3214787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3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A5A570-0AF1-FA5E-7076-2844FF6DC64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Array Aliases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609600" y="675854"/>
            <a:ext cx="5856969" cy="651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make one array reference refer to the same contents of another array reference:</a:t>
            </a:r>
            <a:endParaRPr/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609600" y="1295400"/>
            <a:ext cx="5638800" cy="6096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int[] scores = { 10, 9, 7, 4, 5 };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Int[] values = scores;  // Copying the array reference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1200"/>
              <a:buFont typeface="Noto Sans Symbols"/>
              <a:buNone/>
            </a:pPr>
            <a:endParaRPr sz="2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43" name="Google Shape;14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0401" y="2286000"/>
            <a:ext cx="3657600" cy="202965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/>
        </p:nvSpPr>
        <p:spPr>
          <a:xfrm>
            <a:off x="430332" y="3810000"/>
            <a:ext cx="3608268" cy="692497"/>
          </a:xfrm>
          <a:prstGeom prst="rect">
            <a:avLst/>
          </a:prstGeom>
          <a:solidFill>
            <a:srgbClr val="FFDC47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array variable specifies the location of an array. Copying the reference yields a second reference to the same array.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5562600" y="2209800"/>
            <a:ext cx="129540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 contents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4038600" y="3276600"/>
            <a:ext cx="106680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D63A6DF-0620-0C28-7B47-E3D1A6243F0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/>
          <p:nvPr/>
        </p:nvSpPr>
        <p:spPr>
          <a:xfrm>
            <a:off x="603313" y="571156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Self Check 6.1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90613" y="731227"/>
            <a:ext cx="582041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Declare an array of integers containing the first five prime numbers. </a:t>
            </a:r>
            <a:endParaRPr/>
          </a:p>
          <a:p>
            <a:pPr marL="228600" marR="0" lvl="0" indent="0" algn="l" rtl="0">
              <a:spcBef>
                <a:spcPts val="35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Answer:  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int[] primes = { 2, 3, 5, 7, 11 }; </a:t>
            </a:r>
            <a:endParaRPr/>
          </a:p>
          <a:p>
            <a:pPr marL="228600" marR="0" lvl="0" indent="0" algn="l" rtl="0">
              <a:spcBef>
                <a:spcPts val="35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0" algn="l" rtl="0">
              <a:spcBef>
                <a:spcPts val="35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5" name="Google Shape;155;p18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145C8AA-D269-46F0-F94C-92BBDDFF03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/>
          <p:nvPr/>
        </p:nvSpPr>
        <p:spPr>
          <a:xfrm>
            <a:off x="603313" y="57061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Self Check 6.2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590613" y="730682"/>
            <a:ext cx="5343525" cy="158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the array </a:t>
            </a: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primes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 been initialized as described in Self Check 1. What does it contain after executing the following loop?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0; i &lt; 2; i++)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primes[4 - i] = primes[i];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/>
          </a:p>
          <a:p>
            <a:pPr marL="264160" marR="5080" lvl="0" indent="0" algn="l" rtl="0">
              <a:lnSpc>
                <a:spcPct val="1173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Answer:  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2, 3, 5, 3, 2 </a:t>
            </a:r>
            <a:endParaRPr/>
          </a:p>
          <a:p>
            <a:pPr marL="264160" marR="5080" lvl="0" indent="0" algn="l" rtl="0">
              <a:lnSpc>
                <a:spcPct val="117300"/>
              </a:lnSpc>
              <a:spcBef>
                <a:spcPts val="35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9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88DE7C4-48D2-120B-71DC-74E18F6162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/>
          <p:nvPr/>
        </p:nvSpPr>
        <p:spPr>
          <a:xfrm>
            <a:off x="603313" y="570066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Self Check 6.3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590613" y="730138"/>
            <a:ext cx="5786120" cy="1518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the array </a:t>
            </a: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primes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 been initialized as described in Self Check 1. What does it contain after executing the following loop?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0; i &lt; 5; i++)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primes[i]++;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 </a:t>
            </a:r>
            <a:endParaRPr/>
          </a:p>
          <a:p>
            <a:pPr marL="264160" marR="0" lvl="0" indent="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Answer:   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3, 4, 6, 8, 12 </a:t>
            </a:r>
            <a:endParaRPr/>
          </a:p>
          <a:p>
            <a:pPr marL="264160" marR="0" lvl="0" indent="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0437EF-95B0-43B2-5169-9B5C27DCB02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/>
          <p:nvPr/>
        </p:nvSpPr>
        <p:spPr>
          <a:xfrm>
            <a:off x="603313" y="570066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Self Check 6.5</a:t>
            </a:r>
            <a:endParaRPr/>
          </a:p>
        </p:txBody>
      </p:sp>
      <p:sp>
        <p:nvSpPr>
          <p:cNvPr id="178" name="Google Shape;178;p22"/>
          <p:cNvSpPr txBox="1"/>
          <p:nvPr/>
        </p:nvSpPr>
        <p:spPr>
          <a:xfrm>
            <a:off x="590613" y="730138"/>
            <a:ext cx="5786120" cy="671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Declare an array called </a:t>
            </a: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words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can hold ten elements of type </a:t>
            </a: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marL="264160" marR="0" lvl="0" indent="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Answer:  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String[] words = new String[10]; </a:t>
            </a:r>
            <a:endParaRPr/>
          </a:p>
          <a:p>
            <a:pPr marL="264160" marR="0" lvl="0" indent="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9" name="Google Shape;179;p22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C40727C-3B13-FC15-3A52-28A8EFDFCA0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/>
          <p:nvPr/>
        </p:nvSpPr>
        <p:spPr>
          <a:xfrm>
            <a:off x="603313" y="570066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3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Self Check 6.6</a:t>
            </a:r>
            <a:endParaRPr/>
          </a:p>
        </p:txBody>
      </p:sp>
      <p:sp>
        <p:nvSpPr>
          <p:cNvPr id="186" name="Google Shape;186;p23"/>
          <p:cNvSpPr txBox="1"/>
          <p:nvPr/>
        </p:nvSpPr>
        <p:spPr>
          <a:xfrm>
            <a:off x="590613" y="730138"/>
            <a:ext cx="5786120" cy="687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Declare an array containing two strings, "</a:t>
            </a: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Yes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", and "</a:t>
            </a: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". </a:t>
            </a:r>
            <a:endParaRPr/>
          </a:p>
          <a:p>
            <a:pPr marL="264160" marR="0" lvl="0" indent="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Answer:  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String[] words = { "Yes", "No" }; </a:t>
            </a:r>
            <a:endParaRPr/>
          </a:p>
          <a:p>
            <a:pPr marL="264160" marR="0" lvl="0" indent="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3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58A1D8-E9D1-FB5A-6384-E04436E158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5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Common Error</a:t>
            </a:r>
            <a:endParaRPr/>
          </a:p>
        </p:txBody>
      </p:sp>
      <p:sp>
        <p:nvSpPr>
          <p:cNvPr id="194" name="Google Shape;194;p25"/>
          <p:cNvSpPr txBox="1"/>
          <p:nvPr/>
        </p:nvSpPr>
        <p:spPr>
          <a:xfrm>
            <a:off x="609600" y="675854"/>
            <a:ext cx="5856969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 Bounds Errors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Accessing a nonexistent element is very common error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 indexing starts at 0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Your program will abnormally end at run time</a:t>
            </a:r>
            <a:endParaRPr/>
          </a:p>
        </p:txBody>
      </p:sp>
      <p:sp>
        <p:nvSpPr>
          <p:cNvPr id="195" name="Google Shape;195;p25"/>
          <p:cNvSpPr txBox="1"/>
          <p:nvPr/>
        </p:nvSpPr>
        <p:spPr>
          <a:xfrm>
            <a:off x="609600" y="1828800"/>
            <a:ext cx="4343400" cy="1828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OutOfBounds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public static void main(String[] args)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double values[];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values = new double[10];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values[10] = 100;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96" name="Google Shape;196;p25"/>
          <p:cNvPicPr preferRelativeResize="0"/>
          <p:nvPr/>
        </p:nvPicPr>
        <p:blipFill rotWithShape="1">
          <a:blip r:embed="rId3">
            <a:alphaModFix/>
          </a:blip>
          <a:srcRect l="60454" t="4349" r="3273" b="4348"/>
          <a:stretch/>
        </p:blipFill>
        <p:spPr>
          <a:xfrm>
            <a:off x="5715000" y="838200"/>
            <a:ext cx="125730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5"/>
          <p:cNvSpPr/>
          <p:nvPr/>
        </p:nvSpPr>
        <p:spPr>
          <a:xfrm>
            <a:off x="2819401" y="2971800"/>
            <a:ext cx="2819400" cy="609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is no element 10</a:t>
            </a:r>
            <a:r>
              <a:rPr lang="en-US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5"/>
          <p:cNvSpPr txBox="1"/>
          <p:nvPr/>
        </p:nvSpPr>
        <p:spPr>
          <a:xfrm>
            <a:off x="990600" y="3810000"/>
            <a:ext cx="4984057" cy="492443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java.lang.ArrayIndexOutOfBoundsException: 10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	at OutOfBounds.main(OutOfBounds.java:7)</a:t>
            </a:r>
            <a:endParaRPr/>
          </a:p>
        </p:txBody>
      </p:sp>
      <p:sp>
        <p:nvSpPr>
          <p:cNvPr id="199" name="Google Shape;199;p25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74FE424-4768-DE72-56DF-F3EA26577C0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6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Common Error</a:t>
            </a:r>
            <a:endParaRPr/>
          </a:p>
        </p:txBody>
      </p:sp>
      <p:sp>
        <p:nvSpPr>
          <p:cNvPr id="206" name="Google Shape;206;p26"/>
          <p:cNvSpPr txBox="1"/>
          <p:nvPr/>
        </p:nvSpPr>
        <p:spPr>
          <a:xfrm>
            <a:off x="609600" y="675854"/>
            <a:ext cx="5856969" cy="702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Uninitialized Arrays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Don’t forget to initialize the array variable!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compiler will catch this error</a:t>
            </a:r>
            <a:endParaRPr/>
          </a:p>
        </p:txBody>
      </p:sp>
      <p:sp>
        <p:nvSpPr>
          <p:cNvPr id="207" name="Google Shape;207;p26"/>
          <p:cNvSpPr txBox="1"/>
          <p:nvPr/>
        </p:nvSpPr>
        <p:spPr>
          <a:xfrm>
            <a:off x="838200" y="1524000"/>
            <a:ext cx="5181600" cy="685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double[] values;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values[0] = 29.95; // Error—values not initialized</a:t>
            </a:r>
            <a:endParaRPr sz="13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8" name="Google Shape;208;p26"/>
          <p:cNvSpPr txBox="1"/>
          <p:nvPr/>
        </p:nvSpPr>
        <p:spPr>
          <a:xfrm>
            <a:off x="742950" y="3810000"/>
            <a:ext cx="5276850" cy="801687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double[] values;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values = new double[10];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values[0] = 29.95; // No error</a:t>
            </a:r>
            <a:endParaRPr sz="13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9" name="Google Shape;209;p26"/>
          <p:cNvSpPr txBox="1"/>
          <p:nvPr/>
        </p:nvSpPr>
        <p:spPr>
          <a:xfrm>
            <a:off x="1163984" y="2209800"/>
            <a:ext cx="4855816" cy="492443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Error: D:\Java\Unitialized.java:7: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variable values might not have been initialized</a:t>
            </a:r>
            <a:endParaRPr/>
          </a:p>
        </p:txBody>
      </p:sp>
      <p:pic>
        <p:nvPicPr>
          <p:cNvPr id="210" name="Google Shape;210;p26"/>
          <p:cNvPicPr preferRelativeResize="0"/>
          <p:nvPr/>
        </p:nvPicPr>
        <p:blipFill rotWithShape="1">
          <a:blip r:embed="rId3">
            <a:alphaModFix/>
          </a:blip>
          <a:srcRect b="24828"/>
          <a:stretch/>
        </p:blipFill>
        <p:spPr>
          <a:xfrm>
            <a:off x="4953000" y="1052378"/>
            <a:ext cx="2057400" cy="776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7508" y="3124200"/>
            <a:ext cx="3461492" cy="79562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6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86D9C46-F8EC-605A-273C-D922CA21BA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7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Enhanced 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1800"/>
              <a:t> Loop</a:t>
            </a:r>
            <a:endParaRPr/>
          </a:p>
        </p:txBody>
      </p:sp>
      <p:sp>
        <p:nvSpPr>
          <p:cNvPr id="219" name="Google Shape;219;p27"/>
          <p:cNvSpPr txBox="1"/>
          <p:nvPr/>
        </p:nvSpPr>
        <p:spPr>
          <a:xfrm>
            <a:off x="609600" y="675854"/>
            <a:ext cx="5856969" cy="2964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loops to ‘walk’ arrays is very common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enhanced </a:t>
            </a: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loop simplifies the process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Also called the “</a:t>
            </a:r>
            <a:r>
              <a:rPr lang="en-US" sz="13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 each</a:t>
            </a: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loop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this code as:</a:t>
            </a:r>
            <a:endParaRPr/>
          </a:p>
          <a:p>
            <a:pPr marL="914400" marR="0" lvl="2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“For each element in the array”</a:t>
            </a:r>
            <a:endParaRPr/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the loop proceeds, it will: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each element in order (0 to length-1)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 it to the </a:t>
            </a:r>
            <a:r>
              <a:rPr lang="en-US" sz="1300" b="0" i="0" u="none" strike="noStrike" cap="none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element</a:t>
            </a:r>
            <a:r>
              <a:rPr lang="en-US" sz="1300" b="0" i="0" u="none" strike="noStrike" cap="non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 variable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Execute loop body</a:t>
            </a:r>
            <a:endParaRPr/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possible to: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Change elements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 bounds error</a:t>
            </a:r>
            <a:endParaRPr/>
          </a:p>
        </p:txBody>
      </p:sp>
      <p:sp>
        <p:nvSpPr>
          <p:cNvPr id="220" name="Google Shape;220;p27"/>
          <p:cNvSpPr txBox="1"/>
          <p:nvPr/>
        </p:nvSpPr>
        <p:spPr>
          <a:xfrm>
            <a:off x="3581400" y="3200400"/>
            <a:ext cx="3048000" cy="1295399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double[] values = . . .;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total = 0;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(double 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element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 values)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total = total + 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element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1" name="Google Shape;221;p27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FE70C42-1E18-B732-9ABB-8289ECD610A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/>
          <p:nvPr/>
        </p:nvSpPr>
        <p:spPr>
          <a:xfrm>
            <a:off x="606679" y="582701"/>
            <a:ext cx="5497830" cy="60960"/>
          </a:xfrm>
          <a:custGeom>
            <a:avLst/>
            <a:gdLst/>
            <a:ahLst/>
            <a:cxnLst/>
            <a:rect l="l" t="t" r="r" b="b"/>
            <a:pathLst>
              <a:path w="5497830" h="60959" extrusionOk="0">
                <a:moveTo>
                  <a:pt x="0" y="0"/>
                </a:moveTo>
                <a:lnTo>
                  <a:pt x="5497268" y="0"/>
                </a:lnTo>
                <a:lnTo>
                  <a:pt x="5497268" y="60492"/>
                </a:lnTo>
                <a:lnTo>
                  <a:pt x="0" y="60492"/>
                </a:lnTo>
                <a:lnTo>
                  <a:pt x="0" y="0"/>
                </a:lnTo>
                <a:close/>
              </a:path>
            </a:pathLst>
          </a:custGeom>
          <a:solidFill>
            <a:srgbClr val="24ACA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8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25859"/>
                </a:solidFill>
              </a:rPr>
              <a:t>Syntax 6.2 </a:t>
            </a:r>
            <a:r>
              <a:rPr lang="en-US" sz="1800"/>
              <a:t>The Enhanced </a:t>
            </a:r>
            <a:r>
              <a:rPr lang="en-US" sz="1800">
                <a:latin typeface="Courier"/>
                <a:ea typeface="Courier"/>
                <a:cs typeface="Courier"/>
                <a:sym typeface="Courier"/>
              </a:rPr>
              <a:t>for</a:t>
            </a:r>
            <a:r>
              <a:rPr lang="en-US" sz="1800"/>
              <a:t> loop</a:t>
            </a:r>
            <a:endParaRPr/>
          </a:p>
        </p:txBody>
      </p:sp>
      <p:pic>
        <p:nvPicPr>
          <p:cNvPr id="228" name="Google Shape;228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113" y="685800"/>
            <a:ext cx="6276975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8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18B5911-6217-B6EE-045C-DA963112439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/>
          <p:nvPr/>
        </p:nvSpPr>
        <p:spPr>
          <a:xfrm>
            <a:off x="603313" y="570066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0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Self Check 6.9</a:t>
            </a:r>
            <a:endParaRPr/>
          </a:p>
        </p:txBody>
      </p:sp>
      <p:sp>
        <p:nvSpPr>
          <p:cNvPr id="236" name="Google Shape;236;p30"/>
          <p:cNvSpPr txBox="1"/>
          <p:nvPr/>
        </p:nvSpPr>
        <p:spPr>
          <a:xfrm>
            <a:off x="590613" y="730138"/>
            <a:ext cx="5786120" cy="122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an enhanced </a:t>
            </a: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loop that prints all elements in the array </a:t>
            </a: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marL="264160" marR="0" lvl="0" indent="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Answer:  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(double x : values)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System.out.println(x);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237" name="Google Shape;237;p30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6E6E53-2D05-4B68-801B-0D32350E46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/>
          <p:nvPr/>
        </p:nvSpPr>
        <p:spPr>
          <a:xfrm>
            <a:off x="603313" y="567342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Self Check 6.10</a:t>
            </a:r>
            <a:endParaRPr/>
          </a:p>
        </p:txBody>
      </p:sp>
      <p:sp>
        <p:nvSpPr>
          <p:cNvPr id="244" name="Google Shape;244;p31"/>
          <p:cNvSpPr txBox="1"/>
          <p:nvPr/>
        </p:nvSpPr>
        <p:spPr>
          <a:xfrm>
            <a:off x="590613" y="727414"/>
            <a:ext cx="5886387" cy="159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an enhanced </a:t>
            </a: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loop that multiplies all elements in a </a:t>
            </a: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double[]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array named </a:t>
            </a: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factors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accumulating the result in a variable named </a:t>
            </a: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product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marL="264160" marR="0" lvl="0" indent="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Answer:  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product = 1;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(double f : factors)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product = product * f;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8BA21B-3C78-7D80-AC60-6CEC7B75143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3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Common Array Algorithms</a:t>
            </a:r>
            <a:endParaRPr/>
          </a:p>
        </p:txBody>
      </p:sp>
      <p:sp>
        <p:nvSpPr>
          <p:cNvPr id="252" name="Google Shape;252;p33"/>
          <p:cNvSpPr txBox="1"/>
          <p:nvPr/>
        </p:nvSpPr>
        <p:spPr>
          <a:xfrm>
            <a:off x="609600" y="675854"/>
            <a:ext cx="5856969" cy="271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Filling an Array</a:t>
            </a:r>
            <a:endParaRPr/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 and Average Values</a:t>
            </a:r>
            <a:endParaRPr/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the Maximum or Minimum</a:t>
            </a:r>
            <a:endParaRPr/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Elements with Separators</a:t>
            </a:r>
            <a:endParaRPr/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 Search</a:t>
            </a:r>
            <a:endParaRPr/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Removing an Element</a:t>
            </a:r>
            <a:endParaRPr/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Inserting an Element</a:t>
            </a:r>
            <a:endParaRPr/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Swapping Elements</a:t>
            </a:r>
            <a:endParaRPr/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Copying Arrays</a:t>
            </a:r>
            <a:endParaRPr/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Reading Input</a:t>
            </a:r>
            <a:endParaRPr/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3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5805DF-B257-091B-0D44-659FB5F94CD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4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Common Algorithms 1 and 2</a:t>
            </a:r>
            <a:endParaRPr/>
          </a:p>
        </p:txBody>
      </p:sp>
      <p:sp>
        <p:nvSpPr>
          <p:cNvPr id="260" name="Google Shape;260;p34"/>
          <p:cNvSpPr txBox="1"/>
          <p:nvPr/>
        </p:nvSpPr>
        <p:spPr>
          <a:xfrm>
            <a:off x="609600" y="675854"/>
            <a:ext cx="5856969" cy="2703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1) Filling an Array</a:t>
            </a:r>
            <a:endParaRPr/>
          </a:p>
          <a:p>
            <a:pPr marL="457200" marR="0" lvl="1" indent="-8255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Initialize an array to a set of calculated values</a:t>
            </a:r>
            <a:endParaRPr/>
          </a:p>
          <a:p>
            <a:pPr marL="457200" marR="0" lvl="1" indent="-8255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 Fill an array with squares of 0 through 10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2) Sum and Average</a:t>
            </a:r>
            <a:endParaRPr/>
          </a:p>
          <a:p>
            <a:pPr marL="457200" marR="0" lvl="1" indent="-8255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enhanced </a:t>
            </a: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loop, and make sure not to divide by zero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4"/>
          <p:cNvSpPr txBox="1"/>
          <p:nvPr/>
        </p:nvSpPr>
        <p:spPr>
          <a:xfrm>
            <a:off x="1524000" y="1447800"/>
            <a:ext cx="4038600" cy="1143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int[] values = new int[11];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0; i &lt; values.length; i++)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values[i] = i * i;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2" name="Google Shape;262;p34"/>
          <p:cNvSpPr txBox="1"/>
          <p:nvPr/>
        </p:nvSpPr>
        <p:spPr>
          <a:xfrm>
            <a:off x="838200" y="3429000"/>
            <a:ext cx="6096000" cy="1673352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total = 0, average = 0;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(double element : values)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total = total + element;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</a:t>
            </a:r>
            <a:r>
              <a:rPr lang="en-US" sz="13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values.length</a:t>
            </a: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&gt; 0) { 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average = total / </a:t>
            </a:r>
            <a:r>
              <a:rPr lang="en-US" sz="13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values.length</a:t>
            </a: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 dirty="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3" name="Google Shape;263;p34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8A847D7-178C-CB95-672B-28A386AAD5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5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5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Common Algorithms 3</a:t>
            </a:r>
            <a:endParaRPr/>
          </a:p>
        </p:txBody>
      </p:sp>
      <p:sp>
        <p:nvSpPr>
          <p:cNvPr id="270" name="Google Shape;270;p35"/>
          <p:cNvSpPr/>
          <p:nvPr/>
        </p:nvSpPr>
        <p:spPr>
          <a:xfrm>
            <a:off x="762000" y="685800"/>
            <a:ext cx="5334000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Maximum and Minimum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largest to first element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for or enhanced for loop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the same logic for minimum</a:t>
            </a:r>
            <a:endParaRPr/>
          </a:p>
        </p:txBody>
      </p:sp>
      <p:sp>
        <p:nvSpPr>
          <p:cNvPr id="271" name="Google Shape;271;p35"/>
          <p:cNvSpPr txBox="1"/>
          <p:nvPr/>
        </p:nvSpPr>
        <p:spPr>
          <a:xfrm>
            <a:off x="457200" y="1752600"/>
            <a:ext cx="4191000" cy="16764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largest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values[0];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1; i &lt; values.length; i++)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if (values[i] &gt; 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largest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largest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values[i];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2" name="Google Shape;272;p35"/>
          <p:cNvSpPr txBox="1"/>
          <p:nvPr/>
        </p:nvSpPr>
        <p:spPr>
          <a:xfrm>
            <a:off x="3429000" y="2362200"/>
            <a:ext cx="2667000" cy="292388"/>
          </a:xfrm>
          <a:prstGeom prst="rect">
            <a:avLst/>
          </a:prstGeom>
          <a:solidFill>
            <a:srgbClr val="FFDC47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Typical 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loop to find maximum</a:t>
            </a:r>
            <a:endParaRPr/>
          </a:p>
        </p:txBody>
      </p:sp>
      <p:sp>
        <p:nvSpPr>
          <p:cNvPr id="273" name="Google Shape;273;p35"/>
          <p:cNvSpPr txBox="1"/>
          <p:nvPr/>
        </p:nvSpPr>
        <p:spPr>
          <a:xfrm>
            <a:off x="457200" y="3581400"/>
            <a:ext cx="3048000" cy="12954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largest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values[0];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(double element : values)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if element </a:t>
            </a:r>
            <a:r>
              <a:rPr lang="en-US" sz="13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largest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largest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element;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274" name="Google Shape;274;p35"/>
          <p:cNvSpPr txBox="1"/>
          <p:nvPr/>
        </p:nvSpPr>
        <p:spPr>
          <a:xfrm>
            <a:off x="3733800" y="3581400"/>
            <a:ext cx="3124200" cy="12954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</a:t>
            </a:r>
            <a:r>
              <a:rPr lang="en-US" sz="13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smallest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values[0];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(double element : values)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if element </a:t>
            </a:r>
            <a:r>
              <a:rPr lang="en-US" sz="13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smallest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3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smallest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element;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275" name="Google Shape;275;p35"/>
          <p:cNvSpPr txBox="1"/>
          <p:nvPr/>
        </p:nvSpPr>
        <p:spPr>
          <a:xfrm>
            <a:off x="457200" y="4953000"/>
            <a:ext cx="2590800" cy="292388"/>
          </a:xfrm>
          <a:prstGeom prst="rect">
            <a:avLst/>
          </a:prstGeom>
          <a:solidFill>
            <a:srgbClr val="FFDC47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Enhanced 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find maximum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5"/>
          <p:cNvSpPr txBox="1"/>
          <p:nvPr/>
        </p:nvSpPr>
        <p:spPr>
          <a:xfrm>
            <a:off x="4267200" y="4953000"/>
            <a:ext cx="2590800" cy="292388"/>
          </a:xfrm>
          <a:prstGeom prst="rect">
            <a:avLst/>
          </a:prstGeom>
          <a:solidFill>
            <a:srgbClr val="FFDC47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Enhanced 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find minimum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5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9886DB4-032A-1BCA-D6EC-86DD5786C26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6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Common Algorithms 4</a:t>
            </a:r>
            <a:endParaRPr/>
          </a:p>
        </p:txBody>
      </p:sp>
      <p:sp>
        <p:nvSpPr>
          <p:cNvPr id="284" name="Google Shape;284;p36"/>
          <p:cNvSpPr/>
          <p:nvPr/>
        </p:nvSpPr>
        <p:spPr>
          <a:xfrm>
            <a:off x="762000" y="685800"/>
            <a:ext cx="5334000" cy="330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 Separators</a:t>
            </a:r>
            <a:endParaRPr dirty="0"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all elements with separators between them</a:t>
            </a:r>
            <a:endParaRPr dirty="0"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separator before the first or after the last element</a:t>
            </a:r>
            <a:endParaRPr dirty="0"/>
          </a:p>
          <a:p>
            <a:pPr marL="457200" marR="0" lvl="1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spcBef>
                <a:spcPts val="350"/>
              </a:spcBef>
              <a:spcAft>
                <a:spcPts val="0"/>
              </a:spcAft>
              <a:buNone/>
            </a:pP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Handy Array method:  </a:t>
            </a:r>
            <a:r>
              <a:rPr lang="en-US" sz="1300" b="1" dirty="0" err="1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Arrays.toString</a:t>
            </a:r>
            <a:r>
              <a:rPr lang="en-US" sz="1300" dirty="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dirty="0"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Useful for debugging!</a:t>
            </a:r>
            <a:endParaRPr dirty="0"/>
          </a:p>
        </p:txBody>
      </p:sp>
      <p:sp>
        <p:nvSpPr>
          <p:cNvPr id="285" name="Google Shape;285;p36"/>
          <p:cNvSpPr txBox="1"/>
          <p:nvPr/>
        </p:nvSpPr>
        <p:spPr>
          <a:xfrm>
            <a:off x="1323975" y="1600200"/>
            <a:ext cx="4162425" cy="16764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0; i &lt; values.length; i++)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if (i &gt; 0)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System.out.print(" | ");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System.out.print(values[i]);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endParaRPr sz="13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86" name="Google Shape;286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1980975"/>
            <a:ext cx="2514600" cy="3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6"/>
          <p:cNvSpPr txBox="1"/>
          <p:nvPr/>
        </p:nvSpPr>
        <p:spPr>
          <a:xfrm>
            <a:off x="1295400" y="4038600"/>
            <a:ext cx="4724400" cy="5334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-US" sz="13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java.util</a:t>
            </a: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.*;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</a:t>
            </a: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00" dirty="0" err="1">
                <a:solidFill>
                  <a:srgbClr val="0033CC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Arrays.toString</a:t>
            </a: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(values));</a:t>
            </a:r>
            <a:endParaRPr dirty="0"/>
          </a:p>
        </p:txBody>
      </p:sp>
      <p:pic>
        <p:nvPicPr>
          <p:cNvPr id="288" name="Google Shape;288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19625" y="3793836"/>
            <a:ext cx="2314575" cy="384506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6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A8B8991-1CFF-9574-BBD8-A9429DE21B8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7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Common Algorithms 5</a:t>
            </a:r>
            <a:endParaRPr/>
          </a:p>
        </p:txBody>
      </p:sp>
      <p:sp>
        <p:nvSpPr>
          <p:cNvPr id="296" name="Google Shape;296;p37"/>
          <p:cNvSpPr/>
          <p:nvPr/>
        </p:nvSpPr>
        <p:spPr>
          <a:xfrm>
            <a:off x="762000" y="685800"/>
            <a:ext cx="5334000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 Search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Search for a specific value in an array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 from the beginning (left), stop if/when it is found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a boolean </a:t>
            </a:r>
            <a:r>
              <a:rPr lang="en-US" sz="1300" b="0" i="0" u="none" strike="noStrike" cap="none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found</a:t>
            </a: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flag to stop loop if found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7"/>
          <p:cNvSpPr txBox="1"/>
          <p:nvPr/>
        </p:nvSpPr>
        <p:spPr>
          <a:xfrm>
            <a:off x="838200" y="1752600"/>
            <a:ext cx="4724400" cy="32766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660"/>
              <a:buFont typeface="Noto Sans Symbols"/>
              <a:buNone/>
            </a:pP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searchedValue = 100;  int pos = 0;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660"/>
              <a:buFont typeface="Noto Sans Symbols"/>
              <a:buNone/>
            </a:pP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boolean </a:t>
            </a:r>
            <a:r>
              <a:rPr lang="en-US" sz="11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found</a:t>
            </a: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false;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660"/>
              <a:buFont typeface="Noto Sans Symbols"/>
              <a:buNone/>
            </a:pP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 (pos &lt; values.length &amp;&amp; !</a:t>
            </a:r>
            <a:r>
              <a:rPr lang="en-US" sz="11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found</a:t>
            </a: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660"/>
              <a:buFont typeface="Noto Sans Symbols"/>
              <a:buNone/>
            </a:pP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660"/>
              <a:buFont typeface="Noto Sans Symbols"/>
              <a:buNone/>
            </a:pP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if (values[pos] == searchedValue)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660"/>
              <a:buFont typeface="Noto Sans Symbols"/>
              <a:buNone/>
            </a:pP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660"/>
              <a:buFont typeface="Noto Sans Symbols"/>
              <a:buNone/>
            </a:pPr>
            <a:r>
              <a:rPr lang="en-US" sz="11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    found</a:t>
            </a: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true;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660"/>
              <a:buFont typeface="Noto Sans Symbols"/>
              <a:buNone/>
            </a:pP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660"/>
              <a:buFont typeface="Noto Sans Symbols"/>
              <a:buNone/>
            </a:pP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else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660"/>
              <a:buFont typeface="Noto Sans Symbols"/>
              <a:buNone/>
            </a:pP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660"/>
              <a:buFont typeface="Noto Sans Symbols"/>
              <a:buNone/>
            </a:pP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pos++;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660"/>
              <a:buFont typeface="Noto Sans Symbols"/>
              <a:buNone/>
            </a:pP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660"/>
              <a:buFont typeface="Noto Sans Symbols"/>
              <a:buNone/>
            </a:pP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if (</a:t>
            </a:r>
            <a:r>
              <a:rPr lang="en-US" sz="11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found</a:t>
            </a: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660"/>
              <a:buFont typeface="Noto Sans Symbols"/>
              <a:buNone/>
            </a:pP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660"/>
              <a:buFont typeface="Noto Sans Symbols"/>
              <a:buNone/>
            </a:pP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System.out.println(“Found at position: ” + pos);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660"/>
              <a:buFont typeface="Noto Sans Symbols"/>
              <a:buNone/>
            </a:pP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660"/>
              <a:buFont typeface="Noto Sans Symbols"/>
              <a:buNone/>
            </a:pP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else { System.out.println(“Not found”);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660"/>
              <a:buFont typeface="Noto Sans Symbols"/>
              <a:buNone/>
            </a:pP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8" name="Google Shape;298;p37"/>
          <p:cNvSpPr txBox="1"/>
          <p:nvPr/>
        </p:nvSpPr>
        <p:spPr>
          <a:xfrm>
            <a:off x="4267200" y="2590800"/>
            <a:ext cx="2209800" cy="692497"/>
          </a:xfrm>
          <a:prstGeom prst="rect">
            <a:avLst/>
          </a:prstGeom>
          <a:solidFill>
            <a:srgbClr val="FFDC47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Compound condition to prevent bounds error if value not found.</a:t>
            </a:r>
            <a:endParaRPr/>
          </a:p>
        </p:txBody>
      </p:sp>
      <p:sp>
        <p:nvSpPr>
          <p:cNvPr id="299" name="Google Shape;299;p37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925E641-DD99-CE73-B97E-29FA575D94B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8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Common Algorithms 6a</a:t>
            </a:r>
            <a:endParaRPr/>
          </a:p>
        </p:txBody>
      </p:sp>
      <p:sp>
        <p:nvSpPr>
          <p:cNvPr id="306" name="Google Shape;306;p38"/>
          <p:cNvSpPr/>
          <p:nvPr/>
        </p:nvSpPr>
        <p:spPr>
          <a:xfrm>
            <a:off x="533400" y="685800"/>
            <a:ext cx="5943600" cy="129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Removing an element (at a given position)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Requires tracking the ‘current size’ (# of valid elements)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don’t leave a ‘hole’ in the array!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 depends on if you have to maintain ‘order’</a:t>
            </a:r>
            <a:endParaRPr/>
          </a:p>
          <a:p>
            <a:pPr marL="914400" marR="0" lvl="2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not, find the last valid element, copy over position, update size</a:t>
            </a:r>
            <a:endParaRPr/>
          </a:p>
        </p:txBody>
      </p:sp>
      <p:pic>
        <p:nvPicPr>
          <p:cNvPr id="307" name="Google Shape;307;p38"/>
          <p:cNvPicPr preferRelativeResize="0"/>
          <p:nvPr/>
        </p:nvPicPr>
        <p:blipFill rotWithShape="1">
          <a:blip r:embed="rId3">
            <a:alphaModFix/>
          </a:blip>
          <a:srcRect b="2631"/>
          <a:stretch/>
        </p:blipFill>
        <p:spPr>
          <a:xfrm>
            <a:off x="591836" y="2209800"/>
            <a:ext cx="3057825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8"/>
          <p:cNvSpPr txBox="1"/>
          <p:nvPr/>
        </p:nvSpPr>
        <p:spPr>
          <a:xfrm>
            <a:off x="2819400" y="2514600"/>
            <a:ext cx="4114800" cy="6096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values[pos] = values[currentSize – 1];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currentSize--;</a:t>
            </a:r>
            <a:endParaRPr/>
          </a:p>
        </p:txBody>
      </p:sp>
      <p:sp>
        <p:nvSpPr>
          <p:cNvPr id="309" name="Google Shape;309;p38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EE4586E-D08B-EFBE-41B0-BE65C375BAD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9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Common Algorithms 6b</a:t>
            </a:r>
            <a:endParaRPr/>
          </a:p>
        </p:txBody>
      </p:sp>
      <p:sp>
        <p:nvSpPr>
          <p:cNvPr id="316" name="Google Shape;316;p39"/>
          <p:cNvSpPr/>
          <p:nvPr/>
        </p:nvSpPr>
        <p:spPr>
          <a:xfrm>
            <a:off x="609600" y="685800"/>
            <a:ext cx="5867400" cy="149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Removing an element and maintaining order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Requires tracking the ‘current size’ (# of valid elements)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don’t leave a ‘hole’ in the array!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 depends on if you have to maintain ‘order’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so, move all of the valid elements after </a:t>
            </a: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pos</a:t>
            </a: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up one spot, update size</a:t>
            </a:r>
            <a:endParaRPr/>
          </a:p>
        </p:txBody>
      </p:sp>
      <p:pic>
        <p:nvPicPr>
          <p:cNvPr id="317" name="Google Shape;31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2286000"/>
            <a:ext cx="3160713" cy="228526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9"/>
          <p:cNvSpPr txBox="1"/>
          <p:nvPr/>
        </p:nvSpPr>
        <p:spPr>
          <a:xfrm>
            <a:off x="2590800" y="2895600"/>
            <a:ext cx="4572000" cy="1143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pos; i &lt; currentSize - 1; i++)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values[i] = values[i + 1];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currentSize--;</a:t>
            </a:r>
            <a:endParaRPr/>
          </a:p>
        </p:txBody>
      </p:sp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568EFC6-74A8-0CE7-BF16-AA75E5E3C7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0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40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Common Algorithms 7</a:t>
            </a:r>
            <a:endParaRPr/>
          </a:p>
        </p:txBody>
      </p:sp>
      <p:sp>
        <p:nvSpPr>
          <p:cNvPr id="326" name="Google Shape;326;p40"/>
          <p:cNvSpPr/>
          <p:nvPr/>
        </p:nvSpPr>
        <p:spPr>
          <a:xfrm>
            <a:off x="609600" y="685800"/>
            <a:ext cx="5867400" cy="79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Inserting an Element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 depends on if you have to maintain ‘order’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not, just add it to the end and update the size</a:t>
            </a:r>
            <a:endParaRPr/>
          </a:p>
        </p:txBody>
      </p:sp>
      <p:pic>
        <p:nvPicPr>
          <p:cNvPr id="327" name="Google Shape;327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514600"/>
            <a:ext cx="4151312" cy="202925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/>
          <p:nvPr/>
        </p:nvSpPr>
        <p:spPr>
          <a:xfrm>
            <a:off x="2362200" y="1600200"/>
            <a:ext cx="4778375" cy="16764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(currentSize &lt; values.length)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 currentSize++;  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(int i = currentSize - 1; i &gt; pos; i--)  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     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values[i] = values[i - 1];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  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values[pos] = newElement;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329" name="Google Shape;329;p40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61F4F11-85C2-AFFE-C711-3951925286F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1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1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Common Algorithms 7</a:t>
            </a:r>
            <a:endParaRPr/>
          </a:p>
        </p:txBody>
      </p:sp>
      <p:sp>
        <p:nvSpPr>
          <p:cNvPr id="336" name="Google Shape;336;p41"/>
          <p:cNvSpPr/>
          <p:nvPr/>
        </p:nvSpPr>
        <p:spPr>
          <a:xfrm>
            <a:off x="609600" y="685800"/>
            <a:ext cx="5867400" cy="1195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Inserting an Element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 depends on if you have to maintain ‘order’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so, find the right spot for the new element, move all of the valid elements after ‘pos’ down one spot, insert the new element, and update size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7" name="Google Shape;337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1" y="2590800"/>
            <a:ext cx="2971800" cy="2125928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1"/>
          <p:cNvSpPr txBox="1"/>
          <p:nvPr/>
        </p:nvSpPr>
        <p:spPr>
          <a:xfrm>
            <a:off x="2438400" y="1981200"/>
            <a:ext cx="4640262" cy="192405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(currentSize &lt; values.length)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currentSize++;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 (int i = currentSize - 1; i &gt; pos; i--)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values[i] = values[i - 1];  </a:t>
            </a:r>
            <a:r>
              <a:rPr lang="en-US" sz="130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// move down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values[pos] = newElement;     </a:t>
            </a:r>
            <a:r>
              <a:rPr lang="en-US" sz="130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// fill hole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339" name="Google Shape;339;p41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5F99158-15BA-B12D-8062-1D5F8DC35A4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42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Common Algorithms 8</a:t>
            </a:r>
            <a:endParaRPr/>
          </a:p>
        </p:txBody>
      </p:sp>
      <p:sp>
        <p:nvSpPr>
          <p:cNvPr id="346" name="Google Shape;346;p42"/>
          <p:cNvSpPr/>
          <p:nvPr/>
        </p:nvSpPr>
        <p:spPr>
          <a:xfrm>
            <a:off x="609600" y="685800"/>
            <a:ext cx="5867400" cy="543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Swapping Elements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Three steps using a temporary variable</a:t>
            </a:r>
            <a:endParaRPr/>
          </a:p>
        </p:txBody>
      </p:sp>
      <p:pic>
        <p:nvPicPr>
          <p:cNvPr id="347" name="Google Shape;347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4950" y="1295400"/>
            <a:ext cx="3727450" cy="1307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800" y="2279889"/>
            <a:ext cx="3703638" cy="1301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76600" y="3276600"/>
            <a:ext cx="3657600" cy="1286656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2"/>
          <p:cNvSpPr txBox="1"/>
          <p:nvPr/>
        </p:nvSpPr>
        <p:spPr>
          <a:xfrm>
            <a:off x="333375" y="3886200"/>
            <a:ext cx="2638425" cy="762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temp = values[i];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values[i] = values[j];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Values[j] = temp; 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1" name="Google Shape;351;p42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AB7E487-FE42-22AD-F945-9E7FAD9698A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3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43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Common Algorithms 9a</a:t>
            </a:r>
            <a:endParaRPr/>
          </a:p>
        </p:txBody>
      </p:sp>
      <p:sp>
        <p:nvSpPr>
          <p:cNvPr id="358" name="Google Shape;358;p43"/>
          <p:cNvSpPr/>
          <p:nvPr/>
        </p:nvSpPr>
        <p:spPr>
          <a:xfrm>
            <a:off x="609600" y="685800"/>
            <a:ext cx="5867400" cy="154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Copying Arrays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the same as copying only the reference</a:t>
            </a:r>
            <a:endParaRPr/>
          </a:p>
          <a:p>
            <a:pPr marL="914400" marR="0" lvl="2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Copying creates two set of contents!</a:t>
            </a:r>
            <a:endParaRPr/>
          </a:p>
          <a:p>
            <a:pPr marL="457200" marR="0" lvl="1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the </a:t>
            </a:r>
            <a:r>
              <a:rPr lang="en-US" sz="1300" b="0" i="0" u="none" strike="noStrike" cap="none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Arrays.copyOf</a:t>
            </a: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method</a:t>
            </a:r>
            <a:endParaRPr/>
          </a:p>
        </p:txBody>
      </p:sp>
      <p:sp>
        <p:nvSpPr>
          <p:cNvPr id="359" name="Google Shape;359;p43"/>
          <p:cNvSpPr txBox="1"/>
          <p:nvPr/>
        </p:nvSpPr>
        <p:spPr>
          <a:xfrm>
            <a:off x="685800" y="2286000"/>
            <a:ext cx="5638800" cy="1066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double[] values = new double[6];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 . . // Fill array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double[] prices = values;   </a:t>
            </a:r>
            <a:r>
              <a:rPr lang="en-US" sz="13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// Only a reference so far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double[] prices = 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Arrays.copyOf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(values, values.length);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// copyOf creates the new copy, returns a reference</a:t>
            </a:r>
            <a:endParaRPr/>
          </a:p>
        </p:txBody>
      </p:sp>
      <p:pic>
        <p:nvPicPr>
          <p:cNvPr id="360" name="Google Shape;360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762000"/>
            <a:ext cx="2452878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3"/>
          <p:cNvPicPr preferRelativeResize="0"/>
          <p:nvPr/>
        </p:nvPicPr>
        <p:blipFill rotWithShape="1">
          <a:blip r:embed="rId4">
            <a:alphaModFix/>
          </a:blip>
          <a:srcRect b="28843"/>
          <a:stretch/>
        </p:blipFill>
        <p:spPr>
          <a:xfrm>
            <a:off x="457200" y="3581400"/>
            <a:ext cx="3033712" cy="1144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43"/>
          <p:cNvPicPr preferRelativeResize="0"/>
          <p:nvPr/>
        </p:nvPicPr>
        <p:blipFill rotWithShape="1">
          <a:blip r:embed="rId5">
            <a:alphaModFix/>
          </a:blip>
          <a:srcRect b="26742"/>
          <a:stretch/>
        </p:blipFill>
        <p:spPr>
          <a:xfrm>
            <a:off x="3733800" y="3581400"/>
            <a:ext cx="3048000" cy="1148468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43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2047693-ED31-5D30-AE9B-CC6A794035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4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44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Common Algorithms 9b</a:t>
            </a:r>
            <a:endParaRPr/>
          </a:p>
        </p:txBody>
      </p:sp>
      <p:sp>
        <p:nvSpPr>
          <p:cNvPr id="370" name="Google Shape;370;p44"/>
          <p:cNvSpPr/>
          <p:nvPr/>
        </p:nvSpPr>
        <p:spPr>
          <a:xfrm>
            <a:off x="609600" y="685800"/>
            <a:ext cx="5867400" cy="1800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Growing an array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 the contents of one array to a larger one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Change the reference of the original to the larger one</a:t>
            </a:r>
            <a:endParaRPr/>
          </a:p>
          <a:p>
            <a:pPr marL="457200" marR="0" lvl="1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 Double the size of an existing array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the </a:t>
            </a: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Arrays.copyOf</a:t>
            </a: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method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lang="en-US" sz="1300" b="0" i="0" u="none" strike="noStrike" cap="none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2 *</a:t>
            </a: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the second parameter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44"/>
          <p:cNvSpPr txBox="1"/>
          <p:nvPr/>
        </p:nvSpPr>
        <p:spPr>
          <a:xfrm>
            <a:off x="304800" y="2590800"/>
            <a:ext cx="6553200" cy="9906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double[] values = new double[6];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 . . // Fill array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double[] newValues = Arrays.copyOf(values, 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2 * 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values.length);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values = newValues;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2" name="Google Shape;372;p44"/>
          <p:cNvSpPr txBox="1"/>
          <p:nvPr/>
        </p:nvSpPr>
        <p:spPr>
          <a:xfrm>
            <a:off x="3505200" y="3393757"/>
            <a:ext cx="2971800" cy="492443"/>
          </a:xfrm>
          <a:prstGeom prst="rect">
            <a:avLst/>
          </a:prstGeom>
          <a:solidFill>
            <a:srgbClr val="FFDC47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Arrays.copyOf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second parameter is the length of the new array</a:t>
            </a:r>
            <a:endParaRPr/>
          </a:p>
        </p:txBody>
      </p:sp>
      <p:sp>
        <p:nvSpPr>
          <p:cNvPr id="373" name="Google Shape;373;p44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E757C3-1A30-E744-E612-AB3E03015FC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6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6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Common Algorithms 10</a:t>
            </a:r>
            <a:endParaRPr/>
          </a:p>
        </p:txBody>
      </p:sp>
      <p:sp>
        <p:nvSpPr>
          <p:cNvPr id="380" name="Google Shape;380;p46"/>
          <p:cNvSpPr/>
          <p:nvPr/>
        </p:nvSpPr>
        <p:spPr>
          <a:xfrm>
            <a:off x="609600" y="685800"/>
            <a:ext cx="5867400" cy="280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Reading Input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A:  Known number of values to expect</a:t>
            </a:r>
            <a:endParaRPr/>
          </a:p>
          <a:p>
            <a:pPr marL="914400" marR="0" lvl="2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an array that size and fill it one-by-one</a:t>
            </a:r>
            <a:endParaRPr/>
          </a:p>
          <a:p>
            <a:pPr marL="914400" marR="0" lvl="2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spcBef>
                <a:spcPts val="35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B: Unknown number of values</a:t>
            </a:r>
            <a:endParaRPr/>
          </a:p>
          <a:p>
            <a:pPr marL="914400" marR="0" lvl="2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maximum sized array, maintain as partially filled array</a:t>
            </a:r>
            <a:endParaRPr/>
          </a:p>
        </p:txBody>
      </p:sp>
      <p:sp>
        <p:nvSpPr>
          <p:cNvPr id="381" name="Google Shape;381;p46"/>
          <p:cNvSpPr txBox="1"/>
          <p:nvPr/>
        </p:nvSpPr>
        <p:spPr>
          <a:xfrm>
            <a:off x="1600200" y="1600200"/>
            <a:ext cx="4876800" cy="1143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double[] inputs = new double[NUMBER_OF_INPUTS];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 = 0; i &lt; values.length; i++)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inputs[i] = in.nextDouble();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2" name="Google Shape;382;p46"/>
          <p:cNvSpPr txBox="1"/>
          <p:nvPr/>
        </p:nvSpPr>
        <p:spPr>
          <a:xfrm>
            <a:off x="1028700" y="3581400"/>
            <a:ext cx="5981700" cy="1447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double[] inputs = new double[MAX_INPUTS];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currentSize = 0;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 (in.hasNextDouble() &amp;&amp; currentSize &lt; inputs.length)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inputs[currentSize] = in.nextDouble();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currentSize++;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383" name="Google Shape;383;p46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88E96C8-0459-A5E9-4F91-3DB1E539700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7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7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LargestInArray.java (1)</a:t>
            </a:r>
            <a:endParaRPr/>
          </a:p>
        </p:txBody>
      </p:sp>
      <p:pic>
        <p:nvPicPr>
          <p:cNvPr id="390" name="Google Shape;390;p47"/>
          <p:cNvPicPr preferRelativeResize="0"/>
          <p:nvPr/>
        </p:nvPicPr>
        <p:blipFill rotWithShape="1">
          <a:blip r:embed="rId3">
            <a:alphaModFix/>
          </a:blip>
          <a:srcRect b="14942"/>
          <a:stretch/>
        </p:blipFill>
        <p:spPr>
          <a:xfrm>
            <a:off x="304800" y="762000"/>
            <a:ext cx="6705600" cy="3983375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7"/>
          <p:cNvSpPr txBox="1"/>
          <p:nvPr/>
        </p:nvSpPr>
        <p:spPr>
          <a:xfrm>
            <a:off x="3886200" y="4572000"/>
            <a:ext cx="2895600" cy="492443"/>
          </a:xfrm>
          <a:prstGeom prst="rect">
            <a:avLst/>
          </a:prstGeom>
          <a:solidFill>
            <a:srgbClr val="FFDC47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 values and store in next available index of the array</a:t>
            </a:r>
            <a:endParaRPr/>
          </a:p>
        </p:txBody>
      </p:sp>
      <p:sp>
        <p:nvSpPr>
          <p:cNvPr id="392" name="Google Shape;392;p47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CC3BF3A-0E67-F897-4FAD-A3A0A466679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8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8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LargestInArray.java (2)</a:t>
            </a:r>
            <a:endParaRPr/>
          </a:p>
        </p:txBody>
      </p:sp>
      <p:pic>
        <p:nvPicPr>
          <p:cNvPr id="399" name="Google Shape;399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853888"/>
            <a:ext cx="2743200" cy="517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1371600"/>
            <a:ext cx="4191000" cy="3311738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8"/>
          <p:cNvSpPr txBox="1"/>
          <p:nvPr/>
        </p:nvSpPr>
        <p:spPr>
          <a:xfrm>
            <a:off x="4114800" y="1412557"/>
            <a:ext cx="2286000" cy="492443"/>
          </a:xfrm>
          <a:prstGeom prst="rect">
            <a:avLst/>
          </a:prstGeom>
          <a:solidFill>
            <a:srgbClr val="FFDC47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 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loop and the ‘Find the largest’ algorithm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2" name="Google Shape;402;p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9600" y="2362200"/>
            <a:ext cx="2514599" cy="127057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48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81C3E-E67B-14B1-9A56-09C89A61EE0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7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57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Special Topic:  Sorting Arrays</a:t>
            </a:r>
            <a:endParaRPr/>
          </a:p>
        </p:txBody>
      </p:sp>
      <p:sp>
        <p:nvSpPr>
          <p:cNvPr id="410" name="Google Shape;410;p57"/>
          <p:cNvSpPr/>
          <p:nvPr/>
        </p:nvSpPr>
        <p:spPr>
          <a:xfrm>
            <a:off x="533400" y="662067"/>
            <a:ext cx="5943600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you store values into an array, you can choose to either: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them unsorted (random order)</a:t>
            </a:r>
            <a:endParaRPr/>
          </a:p>
          <a:p>
            <a:pPr marL="457200" marR="0" lvl="1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 them (Ascending or Descending…)</a:t>
            </a:r>
            <a:endParaRPr/>
          </a:p>
          <a:p>
            <a:pPr marL="457200" marR="0" lvl="1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sorted array makes it much easier to find a specific value in a large data set</a:t>
            </a:r>
            <a:endParaRPr/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Java API provides an efficient sort method:</a:t>
            </a:r>
            <a:endParaRPr/>
          </a:p>
          <a:p>
            <a:pPr marL="514350" marR="0" lvl="0" indent="-43180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1" name="Google Shape;411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944880"/>
            <a:ext cx="1447800" cy="57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1750314"/>
            <a:ext cx="1447800" cy="535686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57"/>
          <p:cNvSpPr txBox="1"/>
          <p:nvPr/>
        </p:nvSpPr>
        <p:spPr>
          <a:xfrm>
            <a:off x="685800" y="3048000"/>
            <a:ext cx="5867400" cy="5334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Arrays.sort(values);      </a:t>
            </a:r>
            <a:r>
              <a:rPr lang="en-US" sz="13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// Sort all of the array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Arrays.sort(values, 0, currentSize);  </a:t>
            </a:r>
            <a:r>
              <a:rPr lang="en-US" sz="13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// partially filled </a:t>
            </a:r>
            <a:endParaRPr/>
          </a:p>
        </p:txBody>
      </p:sp>
      <p:sp>
        <p:nvSpPr>
          <p:cNvPr id="414" name="Google Shape;414;p57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B3C0163-6277-FEC3-3605-51EAE7E7312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8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58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Special Topic: Searching</a:t>
            </a:r>
            <a:endParaRPr/>
          </a:p>
        </p:txBody>
      </p:sp>
      <p:sp>
        <p:nvSpPr>
          <p:cNvPr id="421" name="Google Shape;421;p58"/>
          <p:cNvSpPr/>
          <p:nvPr/>
        </p:nvSpPr>
        <p:spPr>
          <a:xfrm>
            <a:off x="609600" y="662067"/>
            <a:ext cx="5715000" cy="2503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have seen the Linear Search (6.3.5)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works on an array that is sorted, or unsorted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Visit each element (start to end), and stop if you find a match or find the end of the array</a:t>
            </a:r>
            <a:endParaRPr/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Search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works for a sorted array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the middle element to our target</a:t>
            </a:r>
            <a:endParaRPr/>
          </a:p>
          <a:p>
            <a:pPr marL="914400" marR="0" lvl="2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it is lower, exclude the lower half</a:t>
            </a:r>
            <a:endParaRPr/>
          </a:p>
          <a:p>
            <a:pPr marL="914400" marR="0" lvl="2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it is higher, exclude the higher half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it again until you find the target or you cannot split what is left</a:t>
            </a:r>
            <a:endParaRPr/>
          </a:p>
        </p:txBody>
      </p:sp>
      <p:sp>
        <p:nvSpPr>
          <p:cNvPr id="422" name="Google Shape;422;p58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3B3D9C-236C-860B-F012-31EF23C0AF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9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59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Binary Search</a:t>
            </a:r>
            <a:endParaRPr/>
          </a:p>
        </p:txBody>
      </p:sp>
      <p:sp>
        <p:nvSpPr>
          <p:cNvPr id="429" name="Google Shape;429;p59"/>
          <p:cNvSpPr/>
          <p:nvPr/>
        </p:nvSpPr>
        <p:spPr>
          <a:xfrm>
            <a:off x="762000" y="662067"/>
            <a:ext cx="5334000" cy="2251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Search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works for a sorted array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the middle element to our target</a:t>
            </a:r>
            <a:endParaRPr/>
          </a:p>
          <a:p>
            <a:pPr marL="914400" marR="0" lvl="2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it is lower, exclude the lower half</a:t>
            </a:r>
            <a:endParaRPr/>
          </a:p>
          <a:p>
            <a:pPr marL="914400" marR="0" lvl="2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it is higher, exclude the higher half</a:t>
            </a:r>
            <a:endParaRPr/>
          </a:p>
          <a:p>
            <a:pPr marL="914400" marR="0" lvl="2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it again until you find the target or you cannot split what is left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 Find the value 15</a:t>
            </a:r>
            <a:endParaRPr/>
          </a:p>
          <a:p>
            <a:pPr marL="514350" marR="0" lvl="0" indent="-43180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0" name="Google Shape;430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48200" y="685800"/>
            <a:ext cx="2209800" cy="596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0999" y="3352800"/>
            <a:ext cx="2099028" cy="55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5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67000" y="3733800"/>
            <a:ext cx="2116314" cy="55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5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29200" y="4114800"/>
            <a:ext cx="2133600" cy="57167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59"/>
          <p:cNvSpPr txBox="1"/>
          <p:nvPr/>
        </p:nvSpPr>
        <p:spPr>
          <a:xfrm>
            <a:off x="838199" y="4592637"/>
            <a:ext cx="4093105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Sorry, 15 is not in this array.  </a:t>
            </a:r>
            <a:endParaRPr/>
          </a:p>
        </p:txBody>
      </p:sp>
      <p:sp>
        <p:nvSpPr>
          <p:cNvPr id="435" name="Google Shape;435;p59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7B03AFF-8861-4CA2-D1AC-9C185BBD5EA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0"/>
          <p:cNvSpPr/>
          <p:nvPr/>
        </p:nvSpPr>
        <p:spPr>
          <a:xfrm>
            <a:off x="603313" y="571701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60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Binary Search Example</a:t>
            </a:r>
            <a:endParaRPr/>
          </a:p>
        </p:txBody>
      </p:sp>
      <p:sp>
        <p:nvSpPr>
          <p:cNvPr id="442" name="Google Shape;442;p60"/>
          <p:cNvSpPr txBox="1"/>
          <p:nvPr/>
        </p:nvSpPr>
        <p:spPr>
          <a:xfrm>
            <a:off x="228600" y="762000"/>
            <a:ext cx="6934200" cy="3429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boolean found = false, int low = 0, int pos = 0;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high = values.length - 1;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 (low &lt;= high &amp;&amp; !found)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pos = (low + high) / 2;  </a:t>
            </a:r>
            <a:r>
              <a:rPr lang="en-US" sz="13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// Midpoint of the subsequence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if (values[pos] == searchedValue)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{ found = true; }      </a:t>
            </a:r>
            <a:r>
              <a:rPr lang="en-US" sz="13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// Found it!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else if (values[pos] &lt; searchedValue)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{ low = pos + 1; }     </a:t>
            </a:r>
            <a:r>
              <a:rPr lang="en-US" sz="13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// Look in first half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else { high = pos - 1; } </a:t>
            </a:r>
            <a:r>
              <a:rPr lang="en-US" sz="13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// Look in second half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(found)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 System.out.println("Found at position " + pos); }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 System.out.println("Not found. Insert before position " + pos); }</a:t>
            </a:r>
            <a:endParaRPr/>
          </a:p>
        </p:txBody>
      </p:sp>
      <p:pic>
        <p:nvPicPr>
          <p:cNvPr id="443" name="Google Shape;443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0299" y="4419601"/>
            <a:ext cx="1949501" cy="515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82850" y="4419601"/>
            <a:ext cx="1965350" cy="515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6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81600" y="4419601"/>
            <a:ext cx="1981200" cy="530962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60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FD06C1C-8B1F-712A-FF3E-FE8295CA01B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61"/>
          <p:cNvPicPr preferRelativeResize="0"/>
          <p:nvPr/>
        </p:nvPicPr>
        <p:blipFill rotWithShape="1">
          <a:blip r:embed="rId3">
            <a:alphaModFix/>
          </a:blip>
          <a:srcRect l="48889"/>
          <a:stretch/>
        </p:blipFill>
        <p:spPr>
          <a:xfrm>
            <a:off x="3657600" y="1295678"/>
            <a:ext cx="3048000" cy="1599922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61"/>
          <p:cNvSpPr txBox="1"/>
          <p:nvPr/>
        </p:nvSpPr>
        <p:spPr>
          <a:xfrm>
            <a:off x="533400" y="749158"/>
            <a:ext cx="6172200" cy="145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Methods can be declared to receive references as parameter variables</a:t>
            </a:r>
            <a:endParaRPr/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if we wanted to write a method to sum all of the elements in an array?</a:t>
            </a:r>
            <a:endParaRPr/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 the array </a:t>
            </a:r>
            <a:r>
              <a:rPr lang="en-US" sz="13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</a:t>
            </a: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an argument!</a:t>
            </a:r>
            <a:endParaRPr/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61"/>
          <p:cNvSpPr/>
          <p:nvPr/>
        </p:nvSpPr>
        <p:spPr>
          <a:xfrm>
            <a:off x="603313" y="569522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61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Using Arrays with Methods</a:t>
            </a:r>
            <a:endParaRPr/>
          </a:p>
        </p:txBody>
      </p:sp>
      <p:sp>
        <p:nvSpPr>
          <p:cNvPr id="455" name="Google Shape;455;p61"/>
          <p:cNvSpPr txBox="1"/>
          <p:nvPr/>
        </p:nvSpPr>
        <p:spPr>
          <a:xfrm>
            <a:off x="381000" y="3095625"/>
            <a:ext cx="4267200" cy="1476375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double sum(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double[] values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double total = 0;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 (double element : values)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total = total + element;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return total;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6" name="Google Shape;456;p61"/>
          <p:cNvSpPr/>
          <p:nvPr/>
        </p:nvSpPr>
        <p:spPr>
          <a:xfrm>
            <a:off x="3276600" y="2580038"/>
            <a:ext cx="1524000" cy="533400"/>
          </a:xfrm>
          <a:prstGeom prst="downArrow">
            <a:avLst>
              <a:gd name="adj1" fmla="val 60371"/>
              <a:gd name="adj2" fmla="val 67941"/>
            </a:avLst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</a:t>
            </a:r>
            <a:endParaRPr/>
          </a:p>
        </p:txBody>
      </p:sp>
      <p:sp>
        <p:nvSpPr>
          <p:cNvPr id="457" name="Google Shape;457;p61"/>
          <p:cNvSpPr txBox="1"/>
          <p:nvPr/>
        </p:nvSpPr>
        <p:spPr>
          <a:xfrm>
            <a:off x="1962150" y="2209800"/>
            <a:ext cx="2762250" cy="381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priceTotal = sum(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prices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</p:txBody>
      </p:sp>
      <p:sp>
        <p:nvSpPr>
          <p:cNvPr id="458" name="Google Shape;458;p61"/>
          <p:cNvSpPr txBox="1"/>
          <p:nvPr/>
        </p:nvSpPr>
        <p:spPr>
          <a:xfrm>
            <a:off x="3886200" y="3886200"/>
            <a:ext cx="2959100" cy="492443"/>
          </a:xfrm>
          <a:prstGeom prst="rect">
            <a:avLst/>
          </a:prstGeom>
          <a:solidFill>
            <a:srgbClr val="FFDC47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Arrays can be used as method arguments and method return values.</a:t>
            </a:r>
            <a:endParaRPr/>
          </a:p>
        </p:txBody>
      </p:sp>
      <p:sp>
        <p:nvSpPr>
          <p:cNvPr id="459" name="Google Shape;459;p61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D753289-9DC1-852A-2199-953E9EF1B3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2"/>
          <p:cNvSpPr/>
          <p:nvPr/>
        </p:nvSpPr>
        <p:spPr>
          <a:xfrm>
            <a:off x="603313" y="569522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62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Passing References (Step 1)</a:t>
            </a:r>
            <a:endParaRPr/>
          </a:p>
        </p:txBody>
      </p:sp>
      <p:sp>
        <p:nvSpPr>
          <p:cNvPr id="466" name="Google Shape;466;p62"/>
          <p:cNvSpPr txBox="1"/>
          <p:nvPr/>
        </p:nvSpPr>
        <p:spPr>
          <a:xfrm>
            <a:off x="533400" y="749158"/>
            <a:ext cx="6172200" cy="902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Passing a reference give the called method access to all of the data elements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CAN change the values!</a:t>
            </a:r>
            <a:endParaRPr/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 Multiply each element in the passed array by the value passed in the second parameter</a:t>
            </a:r>
            <a:endParaRPr/>
          </a:p>
        </p:txBody>
      </p:sp>
      <p:sp>
        <p:nvSpPr>
          <p:cNvPr id="467" name="Google Shape;467;p62"/>
          <p:cNvSpPr txBox="1"/>
          <p:nvPr/>
        </p:nvSpPr>
        <p:spPr>
          <a:xfrm>
            <a:off x="152400" y="3479799"/>
            <a:ext cx="6477000" cy="9906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multiply(double[] 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double 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factor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 (int i = 0; i &lt; data.length; i++)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data[i] = data[i] * factor;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8" name="Google Shape;468;p62"/>
          <p:cNvSpPr/>
          <p:nvPr/>
        </p:nvSpPr>
        <p:spPr>
          <a:xfrm>
            <a:off x="3352800" y="3158490"/>
            <a:ext cx="1524000" cy="346710"/>
          </a:xfrm>
          <a:prstGeom prst="downArrow">
            <a:avLst>
              <a:gd name="adj1" fmla="val 60371"/>
              <a:gd name="adj2" fmla="val 67941"/>
            </a:avLst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</a:t>
            </a:r>
            <a:endParaRPr/>
          </a:p>
        </p:txBody>
      </p:sp>
      <p:sp>
        <p:nvSpPr>
          <p:cNvPr id="469" name="Google Shape;469;p62"/>
          <p:cNvSpPr/>
          <p:nvPr/>
        </p:nvSpPr>
        <p:spPr>
          <a:xfrm>
            <a:off x="5029200" y="3108960"/>
            <a:ext cx="994584" cy="396240"/>
          </a:xfrm>
          <a:prstGeom prst="downArrow">
            <a:avLst>
              <a:gd name="adj1" fmla="val 60371"/>
              <a:gd name="adj2" fmla="val 67941"/>
            </a:avLst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/>
          </a:p>
        </p:txBody>
      </p:sp>
      <p:pic>
        <p:nvPicPr>
          <p:cNvPr id="470" name="Google Shape;470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288" y="2154330"/>
            <a:ext cx="5345097" cy="36027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62"/>
          <p:cNvSpPr txBox="1"/>
          <p:nvPr/>
        </p:nvSpPr>
        <p:spPr>
          <a:xfrm>
            <a:off x="2971800" y="2876550"/>
            <a:ext cx="2955524" cy="24765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multiply(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values,       10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</p:txBody>
      </p:sp>
      <p:sp>
        <p:nvSpPr>
          <p:cNvPr id="472" name="Google Shape;472;p62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C015ED-62FE-EEC9-0C05-9790577E897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3"/>
          <p:cNvSpPr/>
          <p:nvPr/>
        </p:nvSpPr>
        <p:spPr>
          <a:xfrm>
            <a:off x="603313" y="569522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63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Passing References (Step 2)</a:t>
            </a:r>
            <a:endParaRPr/>
          </a:p>
        </p:txBody>
      </p:sp>
      <p:pic>
        <p:nvPicPr>
          <p:cNvPr id="479" name="Google Shape;479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1" y="685800"/>
            <a:ext cx="5257800" cy="3709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4419600"/>
            <a:ext cx="5943600" cy="636315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63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649BD7-E5BF-5063-FB6D-032AE56C59A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4"/>
          <p:cNvSpPr/>
          <p:nvPr/>
        </p:nvSpPr>
        <p:spPr>
          <a:xfrm>
            <a:off x="603313" y="569522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64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Passing References (Steps 3 &amp; 4)</a:t>
            </a:r>
            <a:endParaRPr/>
          </a:p>
        </p:txBody>
      </p:sp>
      <p:pic>
        <p:nvPicPr>
          <p:cNvPr id="488" name="Google Shape;488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685800"/>
            <a:ext cx="5181600" cy="3593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4307445"/>
            <a:ext cx="5943600" cy="721755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64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1E90DE6-DE7A-5EE6-A139-484B6524B1B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5"/>
          <p:cNvSpPr txBox="1"/>
          <p:nvPr/>
        </p:nvSpPr>
        <p:spPr>
          <a:xfrm>
            <a:off x="1752600" y="2743200"/>
            <a:ext cx="3657600" cy="1905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int[] 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squares(int n)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int[] 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result = new int[n];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 (int i = 0; i &lt; n; i++)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result[i] = i * i;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return result;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6" name="Google Shape;496;p65"/>
          <p:cNvSpPr/>
          <p:nvPr/>
        </p:nvSpPr>
        <p:spPr>
          <a:xfrm>
            <a:off x="603313" y="569522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65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Method Returning an Array</a:t>
            </a:r>
            <a:endParaRPr/>
          </a:p>
        </p:txBody>
      </p:sp>
      <p:sp>
        <p:nvSpPr>
          <p:cNvPr id="498" name="Google Shape;498;p65"/>
          <p:cNvSpPr txBox="1"/>
          <p:nvPr/>
        </p:nvSpPr>
        <p:spPr>
          <a:xfrm>
            <a:off x="533400" y="749158"/>
            <a:ext cx="6172200" cy="170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Methods can be declared to return an array</a:t>
            </a:r>
            <a:endParaRPr/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Call: Create a compatible array reference:</a:t>
            </a:r>
            <a:endParaRPr/>
          </a:p>
          <a:p>
            <a:pPr marL="457200" marR="0" lvl="1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 the method</a:t>
            </a:r>
            <a:endParaRPr/>
          </a:p>
        </p:txBody>
      </p:sp>
      <p:sp>
        <p:nvSpPr>
          <p:cNvPr id="499" name="Google Shape;499;p65"/>
          <p:cNvSpPr txBox="1"/>
          <p:nvPr/>
        </p:nvSpPr>
        <p:spPr>
          <a:xfrm>
            <a:off x="990600" y="1066800"/>
            <a:ext cx="3657600" cy="304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int[] 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squares(int n)</a:t>
            </a:r>
            <a:endParaRPr sz="13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0" name="Google Shape;500;p65"/>
          <p:cNvSpPr/>
          <p:nvPr/>
        </p:nvSpPr>
        <p:spPr>
          <a:xfrm>
            <a:off x="4495800" y="2133600"/>
            <a:ext cx="1066800" cy="609600"/>
          </a:xfrm>
          <a:prstGeom prst="downArrow">
            <a:avLst>
              <a:gd name="adj1" fmla="val 60371"/>
              <a:gd name="adj2" fmla="val 67941"/>
            </a:avLst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/>
          </a:p>
        </p:txBody>
      </p:sp>
      <p:sp>
        <p:nvSpPr>
          <p:cNvPr id="501" name="Google Shape;501;p65"/>
          <p:cNvSpPr txBox="1"/>
          <p:nvPr/>
        </p:nvSpPr>
        <p:spPr>
          <a:xfrm>
            <a:off x="2438400" y="1828800"/>
            <a:ext cx="3200400" cy="304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int[] 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numbers = squares(10);</a:t>
            </a:r>
            <a:endParaRPr sz="13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2" name="Google Shape;502;p65"/>
          <p:cNvSpPr/>
          <p:nvPr/>
        </p:nvSpPr>
        <p:spPr>
          <a:xfrm rot="5400000">
            <a:off x="1162545" y="3714255"/>
            <a:ext cx="361702" cy="1162792"/>
          </a:xfrm>
          <a:prstGeom prst="downArrow">
            <a:avLst>
              <a:gd name="adj1" fmla="val 60371"/>
              <a:gd name="adj2" fmla="val 67941"/>
            </a:avLst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65"/>
          <p:cNvSpPr txBox="1"/>
          <p:nvPr/>
        </p:nvSpPr>
        <p:spPr>
          <a:xfrm>
            <a:off x="910338" y="4186464"/>
            <a:ext cx="1014434" cy="21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</a:t>
            </a:r>
            <a:endParaRPr/>
          </a:p>
        </p:txBody>
      </p:sp>
      <p:sp>
        <p:nvSpPr>
          <p:cNvPr id="504" name="Google Shape;504;p65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D7533E-B1DD-6C66-385B-DDEC245F4BC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9"/>
          <p:cNvSpPr/>
          <p:nvPr/>
        </p:nvSpPr>
        <p:spPr>
          <a:xfrm>
            <a:off x="603313" y="558078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69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Self Check 6.22</a:t>
            </a:r>
            <a:endParaRPr/>
          </a:p>
        </p:txBody>
      </p:sp>
      <p:sp>
        <p:nvSpPr>
          <p:cNvPr id="511" name="Google Shape;511;p69"/>
          <p:cNvSpPr txBox="1"/>
          <p:nvPr/>
        </p:nvSpPr>
        <p:spPr>
          <a:xfrm>
            <a:off x="590613" y="718151"/>
            <a:ext cx="5707380" cy="2734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the following method that reverses an array: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int[] reverse(int[] values)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int[] result = new int[values.length];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(int i = 0; i &lt; values.length; i++)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result[i] = values[values.length - 1 - i];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return result;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Suppose the </a:t>
            </a: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reverse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method is called with an array scores that contains the numbers 1, 4, and 9. What is the contents of </a:t>
            </a: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scores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after the method call? </a:t>
            </a:r>
            <a:endParaRPr/>
          </a:p>
          <a:p>
            <a:pPr marL="264160" marR="0" lvl="0" indent="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Answer:  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contents of 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scores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unchanged. The 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reverse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method returns a new array with the reversed numbers. </a:t>
            </a:r>
            <a:endParaRPr/>
          </a:p>
          <a:p>
            <a:pPr marL="264160" marR="0" lvl="0" indent="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69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79B05C-0ECE-A5F1-5AC2-2D1297A914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80"/>
          <p:cNvSpPr/>
          <p:nvPr/>
        </p:nvSpPr>
        <p:spPr>
          <a:xfrm>
            <a:off x="603313" y="568977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80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Using Arrays with Methods</a:t>
            </a:r>
            <a:endParaRPr/>
          </a:p>
        </p:txBody>
      </p:sp>
      <p:sp>
        <p:nvSpPr>
          <p:cNvPr id="519" name="Google Shape;519;p80"/>
          <p:cNvSpPr txBox="1"/>
          <p:nvPr/>
        </p:nvSpPr>
        <p:spPr>
          <a:xfrm>
            <a:off x="533400" y="749158"/>
            <a:ext cx="6172200" cy="3559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1) Decompose the task into steps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Read inputs.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Remove the minimum.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Calculate the sum. </a:t>
            </a:r>
            <a:endParaRPr sz="1300" b="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2) Determine the algorithms to use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Read inputs.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Find the minimum.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Find the position of the minimum.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Remove the element at the position.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Calculate the sum. </a:t>
            </a:r>
            <a:endParaRPr sz="1300" b="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3) Use methods to structure the program</a:t>
            </a:r>
            <a:endParaRPr/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4) Assemble and test the program</a:t>
            </a:r>
            <a:endParaRPr/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80"/>
          <p:cNvSpPr txBox="1"/>
          <p:nvPr/>
        </p:nvSpPr>
        <p:spPr>
          <a:xfrm>
            <a:off x="685800" y="3048000"/>
            <a:ext cx="4724400" cy="685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double[] scores = 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readInputs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total = 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(scores) - 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minimum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(scores);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System.out.println("Final score: " + total);</a:t>
            </a:r>
            <a:endParaRPr sz="13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1" name="Google Shape;521;p80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2596B68-A344-D6CD-E116-D030B637AE3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>
          <a:extLst>
            <a:ext uri="{FF2B5EF4-FFF2-40B4-BE49-F238E27FC236}">
              <a16:creationId xmlns:a16="http://schemas.microsoft.com/office/drawing/2014/main" id="{0269BD31-C883-50F3-2DC1-B6DB5723A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06">
            <a:extLst>
              <a:ext uri="{FF2B5EF4-FFF2-40B4-BE49-F238E27FC236}">
                <a16:creationId xmlns:a16="http://schemas.microsoft.com/office/drawing/2014/main" id="{A1F81F34-BC3C-8D39-6CAA-AA2AD28818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0614" y="3200400"/>
            <a:ext cx="613397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FF0000"/>
                </a:solidFill>
              </a:rPr>
              <a:t>Multi-Dimensional Arrays</a:t>
            </a:r>
            <a:endParaRPr sz="3200" dirty="0">
              <a:solidFill>
                <a:srgbClr val="FF0000"/>
              </a:solidFill>
            </a:endParaRPr>
          </a:p>
        </p:txBody>
      </p:sp>
      <p:sp>
        <p:nvSpPr>
          <p:cNvPr id="586" name="Google Shape;586;p106">
            <a:extLst>
              <a:ext uri="{FF2B5EF4-FFF2-40B4-BE49-F238E27FC236}">
                <a16:creationId xmlns:a16="http://schemas.microsoft.com/office/drawing/2014/main" id="{69B2FF12-2E84-A457-8D62-AF3D910A64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C57E0D-F731-32C3-B518-9E46BEBBC31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  <p:extLst>
      <p:ext uri="{BB962C8B-B14F-4D97-AF65-F5344CB8AC3E}">
        <p14:creationId xmlns:p14="http://schemas.microsoft.com/office/powerpoint/2010/main" val="25614924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93"/>
          <p:cNvSpPr/>
          <p:nvPr/>
        </p:nvSpPr>
        <p:spPr>
          <a:xfrm>
            <a:off x="603313" y="565707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93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Two-Dimensional Arrays</a:t>
            </a:r>
            <a:endParaRPr/>
          </a:p>
        </p:txBody>
      </p:sp>
      <p:sp>
        <p:nvSpPr>
          <p:cNvPr id="528" name="Google Shape;528;p93"/>
          <p:cNvSpPr txBox="1"/>
          <p:nvPr/>
        </p:nvSpPr>
        <p:spPr>
          <a:xfrm>
            <a:off x="533400" y="749158"/>
            <a:ext cx="6172200" cy="702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Arrays can be used to store data in two dimensions (2D) like a spreadsheet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Rows and Columns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Also known as a ‘matrix’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9" name="Google Shape;529;p93" descr="bjlo_ch06_fig12.pd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1600200"/>
            <a:ext cx="6096000" cy="2438918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93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82D210E-E910-EB4C-DC00-F9064DACD1C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94"/>
          <p:cNvSpPr/>
          <p:nvPr/>
        </p:nvSpPr>
        <p:spPr>
          <a:xfrm>
            <a:off x="603313" y="564617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94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Declaring Two-Dimensional Arrays</a:t>
            </a:r>
            <a:endParaRPr/>
          </a:p>
        </p:txBody>
      </p:sp>
      <p:sp>
        <p:nvSpPr>
          <p:cNvPr id="537" name="Google Shape;537;p94"/>
          <p:cNvSpPr txBox="1"/>
          <p:nvPr/>
        </p:nvSpPr>
        <p:spPr>
          <a:xfrm>
            <a:off x="685800" y="672536"/>
            <a:ext cx="5638800" cy="145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two ‘pairs’ of square braces</a:t>
            </a:r>
            <a:endParaRPr/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also initialize the array </a:t>
            </a:r>
            <a:endParaRPr/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94"/>
          <p:cNvSpPr txBox="1"/>
          <p:nvPr/>
        </p:nvSpPr>
        <p:spPr>
          <a:xfrm>
            <a:off x="838200" y="914400"/>
            <a:ext cx="4572000" cy="685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const int COUNTRIES = 7;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const int MEDALS = 3;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[][]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counts = new int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COUNTRIES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][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MEDALS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39" name="Google Shape;539;p94" descr="bjlo_ch06_fig12a.pd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10200" y="838200"/>
            <a:ext cx="175895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94"/>
          <p:cNvSpPr txBox="1"/>
          <p:nvPr/>
        </p:nvSpPr>
        <p:spPr>
          <a:xfrm>
            <a:off x="838200" y="1981200"/>
            <a:ext cx="2895600" cy="2590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const int COUNTRIES = 7;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const int MEDALS = 3;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int[][] counts =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  { 1, 0, 1 },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  { 1, 1, 0 },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  { 0, 0, 1 },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  { 1, 0, 0 },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  { 0, 1, 1 },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  { 0, 1, 1 },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  { 1, 1, 0 }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</p:txBody>
      </p:sp>
      <p:sp>
        <p:nvSpPr>
          <p:cNvPr id="541" name="Google Shape;541;p94"/>
          <p:cNvSpPr txBox="1"/>
          <p:nvPr/>
        </p:nvSpPr>
        <p:spPr>
          <a:xfrm>
            <a:off x="3048000" y="2743200"/>
            <a:ext cx="2819400" cy="692497"/>
          </a:xfrm>
          <a:prstGeom prst="rect">
            <a:avLst/>
          </a:prstGeom>
          <a:solidFill>
            <a:srgbClr val="FFDC47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the use of two ‘levels’ of curly braces.  Each row has braces with commas separating them.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94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46576AF-BBB6-CE2D-C21F-46C7D6539BE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95"/>
          <p:cNvSpPr/>
          <p:nvPr/>
        </p:nvSpPr>
        <p:spPr>
          <a:xfrm>
            <a:off x="606679" y="582701"/>
            <a:ext cx="5497830" cy="60960"/>
          </a:xfrm>
          <a:custGeom>
            <a:avLst/>
            <a:gdLst/>
            <a:ahLst/>
            <a:cxnLst/>
            <a:rect l="l" t="t" r="r" b="b"/>
            <a:pathLst>
              <a:path w="5497830" h="60959" extrusionOk="0">
                <a:moveTo>
                  <a:pt x="0" y="0"/>
                </a:moveTo>
                <a:lnTo>
                  <a:pt x="5497268" y="0"/>
                </a:lnTo>
                <a:lnTo>
                  <a:pt x="5497268" y="60492"/>
                </a:lnTo>
                <a:lnTo>
                  <a:pt x="0" y="60492"/>
                </a:lnTo>
                <a:lnTo>
                  <a:pt x="0" y="0"/>
                </a:lnTo>
                <a:close/>
              </a:path>
            </a:pathLst>
          </a:custGeom>
          <a:solidFill>
            <a:srgbClr val="24ACA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95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25859"/>
                </a:solidFill>
              </a:rPr>
              <a:t>Syntax 6.3 </a:t>
            </a:r>
            <a:r>
              <a:rPr lang="en-US" sz="1800"/>
              <a:t>2D Array Declaration</a:t>
            </a:r>
            <a:endParaRPr/>
          </a:p>
        </p:txBody>
      </p:sp>
      <p:sp>
        <p:nvSpPr>
          <p:cNvPr id="549" name="Google Shape;549;p95"/>
          <p:cNvSpPr txBox="1"/>
          <p:nvPr/>
        </p:nvSpPr>
        <p:spPr>
          <a:xfrm>
            <a:off x="685800" y="672536"/>
            <a:ext cx="5638800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name of the array continues to be a reference to the contents of the array</a:t>
            </a:r>
            <a:endParaRPr/>
          </a:p>
          <a:p>
            <a:pPr marL="457200" marR="0" lvl="1" indent="-8255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new or fully initialize the array</a:t>
            </a:r>
            <a:endParaRPr/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0" name="Google Shape;550;p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71600"/>
            <a:ext cx="63246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95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1146677-F15E-B19A-EA1A-D5C6B1E7EE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96"/>
          <p:cNvSpPr/>
          <p:nvPr/>
        </p:nvSpPr>
        <p:spPr>
          <a:xfrm>
            <a:off x="603313" y="564072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96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Accessing Elements</a:t>
            </a:r>
            <a:endParaRPr/>
          </a:p>
        </p:txBody>
      </p:sp>
      <p:sp>
        <p:nvSpPr>
          <p:cNvPr id="558" name="Google Shape;558;p96"/>
          <p:cNvSpPr txBox="1"/>
          <p:nvPr/>
        </p:nvSpPr>
        <p:spPr>
          <a:xfrm>
            <a:off x="685800" y="672536"/>
            <a:ext cx="56388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two index values: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</a:t>
            </a:r>
            <a:r>
              <a:rPr lang="en-US" sz="1300" b="0" i="0" u="none" strike="noStrike" cap="non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Row</a:t>
            </a: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then </a:t>
            </a:r>
            <a:r>
              <a:rPr lang="en-US" sz="13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Column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255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print</a:t>
            </a:r>
            <a:endParaRPr/>
          </a:p>
          <a:p>
            <a:pPr marL="457200" marR="0" lvl="1" indent="-8255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nested for loops</a:t>
            </a:r>
            <a:endParaRPr/>
          </a:p>
          <a:p>
            <a:pPr marL="457200" marR="0" lvl="1" indent="-82550" algn="l" rtl="0">
              <a:spcBef>
                <a:spcPts val="2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Outer row(</a:t>
            </a:r>
            <a:r>
              <a:rPr lang="en-US" sz="1300" b="0" i="0" u="none" strike="noStrike" cap="none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300" b="0" i="0" u="none" strike="noStrike" cap="non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3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inner column(</a:t>
            </a:r>
            <a:r>
              <a:rPr lang="en-US" sz="1300" b="0" i="0" u="none" strike="noStrike" cap="none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US" sz="13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96"/>
          <p:cNvSpPr txBox="1"/>
          <p:nvPr/>
        </p:nvSpPr>
        <p:spPr>
          <a:xfrm>
            <a:off x="990600" y="1143000"/>
            <a:ext cx="2667000" cy="304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value = counts[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][</a:t>
            </a:r>
            <a:r>
              <a:rPr lang="en-US" sz="13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3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60" name="Google Shape;560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7200" y="762000"/>
            <a:ext cx="2219218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96"/>
          <p:cNvSpPr txBox="1"/>
          <p:nvPr/>
        </p:nvSpPr>
        <p:spPr>
          <a:xfrm>
            <a:off x="304800" y="2667000"/>
            <a:ext cx="6629400" cy="2286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0; i &lt; COUNTRIES; i++)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3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// Process the 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ith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row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3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for (int j = 0; j &lt; MEDALS; j++)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3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// Process the </a:t>
            </a:r>
            <a:r>
              <a:rPr lang="en-US" sz="13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jth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column in the 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ith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row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System.out.printf("%8d", counts[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][</a:t>
            </a:r>
            <a:r>
              <a:rPr lang="en-US" sz="13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]);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System.out.println(); </a:t>
            </a:r>
            <a:r>
              <a:rPr lang="en-US" sz="13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// Start a new line at the end of the row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0033C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2" name="Google Shape;562;p96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586E04C-14DE-401A-2FD1-9E2B8F3C520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99"/>
          <p:cNvSpPr/>
          <p:nvPr/>
        </p:nvSpPr>
        <p:spPr>
          <a:xfrm>
            <a:off x="603313" y="563528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99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Medals.java (1)</a:t>
            </a:r>
            <a:endParaRPr/>
          </a:p>
        </p:txBody>
      </p:sp>
      <p:pic>
        <p:nvPicPr>
          <p:cNvPr id="569" name="Google Shape;569;p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1" y="685800"/>
            <a:ext cx="5334000" cy="3455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9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06664" y="3200400"/>
            <a:ext cx="2384536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99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A66E83E-235D-EC2C-2065-BED16049C30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00"/>
          <p:cNvSpPr/>
          <p:nvPr/>
        </p:nvSpPr>
        <p:spPr>
          <a:xfrm>
            <a:off x="603313" y="563528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00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Medals.java (2)</a:t>
            </a:r>
            <a:endParaRPr/>
          </a:p>
        </p:txBody>
      </p:sp>
      <p:pic>
        <p:nvPicPr>
          <p:cNvPr id="578" name="Google Shape;578;p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685800"/>
            <a:ext cx="5867400" cy="3648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100" descr="bjlo_ch06_b.pd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0" y="3810000"/>
            <a:ext cx="3352800" cy="1476252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100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58C39C-7D45-3A99-9DB8-E347CE42EF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06"/>
          <p:cNvSpPr txBox="1">
            <a:spLocks noGrp="1"/>
          </p:cNvSpPr>
          <p:nvPr>
            <p:ph type="title"/>
          </p:nvPr>
        </p:nvSpPr>
        <p:spPr>
          <a:xfrm>
            <a:off x="590614" y="3200400"/>
            <a:ext cx="613397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</a:rPr>
              <a:t>ArrayList</a:t>
            </a:r>
            <a:endParaRPr sz="3200">
              <a:solidFill>
                <a:srgbClr val="FF0000"/>
              </a:solidFill>
            </a:endParaRPr>
          </a:p>
        </p:txBody>
      </p:sp>
      <p:sp>
        <p:nvSpPr>
          <p:cNvPr id="586" name="Google Shape;586;p106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8A744E-FE3A-CADE-8283-B23F9659349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07"/>
          <p:cNvSpPr/>
          <p:nvPr/>
        </p:nvSpPr>
        <p:spPr>
          <a:xfrm>
            <a:off x="603313" y="549275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07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Array Lists</a:t>
            </a:r>
            <a:endParaRPr/>
          </a:p>
        </p:txBody>
      </p:sp>
      <p:sp>
        <p:nvSpPr>
          <p:cNvPr id="593" name="Google Shape;593;p107"/>
          <p:cNvSpPr txBox="1"/>
          <p:nvPr/>
        </p:nvSpPr>
        <p:spPr>
          <a:xfrm>
            <a:off x="685800" y="762000"/>
            <a:ext cx="5351509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you write a program that collects values, you don’t always know how many values you will have. </a:t>
            </a:r>
            <a:endParaRPr dirty="0"/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such a situation, a Java </a:t>
            </a:r>
            <a:r>
              <a:rPr lang="en-US" sz="13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ArrayList</a:t>
            </a:r>
            <a:r>
              <a:rPr lang="en-US" sz="13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offers two significant advantages:</a:t>
            </a:r>
            <a:endParaRPr dirty="0"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 Lists can grow and shrink as needed.</a:t>
            </a:r>
            <a:endParaRPr dirty="0"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ArrayList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class supplies methods for common tasks, such as inserting and removing elements.</a:t>
            </a:r>
            <a:endParaRPr dirty="0"/>
          </a:p>
        </p:txBody>
      </p:sp>
      <p:sp>
        <p:nvSpPr>
          <p:cNvPr id="594" name="Google Shape;594;p107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318BB0D-08B4-87BB-83C9-6921C4478F7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08"/>
          <p:cNvSpPr/>
          <p:nvPr/>
        </p:nvSpPr>
        <p:spPr>
          <a:xfrm>
            <a:off x="603313" y="549275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08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Declaring and Using Array Lists</a:t>
            </a:r>
            <a:endParaRPr/>
          </a:p>
        </p:txBody>
      </p:sp>
      <p:sp>
        <p:nvSpPr>
          <p:cNvPr id="601" name="Google Shape;601;p108"/>
          <p:cNvSpPr txBox="1"/>
          <p:nvPr/>
        </p:nvSpPr>
        <p:spPr>
          <a:xfrm>
            <a:off x="609600" y="685800"/>
            <a:ext cx="5410199" cy="195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ArrayList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class is part of the 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java.util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package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a </a:t>
            </a:r>
            <a:r>
              <a:rPr lang="en-US" sz="13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generic</a:t>
            </a: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class</a:t>
            </a:r>
            <a:endParaRPr/>
          </a:p>
          <a:p>
            <a:pPr marL="914400" marR="0" lvl="2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Designed to hold many types of objects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 the type of element during declaration</a:t>
            </a:r>
            <a:endParaRPr/>
          </a:p>
          <a:p>
            <a:pPr marL="914400" marR="0" lvl="2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Inside </a:t>
            </a:r>
            <a:r>
              <a:rPr lang="en-US" sz="1300" b="0" i="0" u="none" strike="noStrike" cap="none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&lt; &gt;</a:t>
            </a:r>
            <a:r>
              <a:rPr lang="en-US" sz="1300" b="0" i="0" u="none" strike="noStrike" cap="non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the ‘type parameter’ </a:t>
            </a:r>
            <a:endParaRPr/>
          </a:p>
          <a:p>
            <a:pPr marL="914400" marR="0" lvl="2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type must be a Class</a:t>
            </a:r>
            <a:endParaRPr/>
          </a:p>
          <a:p>
            <a:pPr marL="914400" marR="0" lvl="2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Cannot be used for primitive types (</a:t>
            </a: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…)</a:t>
            </a:r>
            <a:endParaRPr/>
          </a:p>
          <a:p>
            <a:pPr marL="342900" marR="0" lvl="1" indent="-2603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108"/>
          <p:cNvSpPr txBox="1"/>
          <p:nvPr/>
        </p:nvSpPr>
        <p:spPr>
          <a:xfrm>
            <a:off x="762000" y="2590800"/>
            <a:ext cx="5410200" cy="304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ArrayList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&lt;String&gt; 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names = new ArrayList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&lt;String&gt;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3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3" name="Google Shape;603;p108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D1140E0-A8C0-4C02-20B6-D39C1883E56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09"/>
          <p:cNvSpPr/>
          <p:nvPr/>
        </p:nvSpPr>
        <p:spPr>
          <a:xfrm>
            <a:off x="606679" y="582701"/>
            <a:ext cx="5497830" cy="60960"/>
          </a:xfrm>
          <a:custGeom>
            <a:avLst/>
            <a:gdLst/>
            <a:ahLst/>
            <a:cxnLst/>
            <a:rect l="l" t="t" r="r" b="b"/>
            <a:pathLst>
              <a:path w="5497830" h="60959" extrusionOk="0">
                <a:moveTo>
                  <a:pt x="0" y="0"/>
                </a:moveTo>
                <a:lnTo>
                  <a:pt x="5497268" y="0"/>
                </a:lnTo>
                <a:lnTo>
                  <a:pt x="5497268" y="60492"/>
                </a:lnTo>
                <a:lnTo>
                  <a:pt x="0" y="60492"/>
                </a:lnTo>
                <a:lnTo>
                  <a:pt x="0" y="0"/>
                </a:lnTo>
                <a:close/>
              </a:path>
            </a:pathLst>
          </a:custGeom>
          <a:solidFill>
            <a:srgbClr val="24ACA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09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25859"/>
                </a:solidFill>
              </a:rPr>
              <a:t>Syntax 6.4 </a:t>
            </a:r>
            <a:r>
              <a:rPr lang="en-US" sz="1800"/>
              <a:t>Array Lists</a:t>
            </a:r>
            <a:endParaRPr/>
          </a:p>
        </p:txBody>
      </p:sp>
      <p:sp>
        <p:nvSpPr>
          <p:cNvPr id="610" name="Google Shape;610;p109"/>
          <p:cNvSpPr txBox="1"/>
          <p:nvPr/>
        </p:nvSpPr>
        <p:spPr>
          <a:xfrm>
            <a:off x="685800" y="672536"/>
            <a:ext cx="5638800" cy="170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ArrayList</a:t>
            </a:r>
            <a:r>
              <a:rPr lang="en-US" sz="13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provides many useful methods:</a:t>
            </a:r>
            <a:endParaRPr dirty="0"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 dirty="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add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 add an element</a:t>
            </a:r>
            <a:endParaRPr dirty="0"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 dirty="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get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return an element</a:t>
            </a:r>
            <a:endParaRPr dirty="0"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 dirty="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remove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delete an element</a:t>
            </a:r>
            <a:endParaRPr dirty="0"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 dirty="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set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  change an element</a:t>
            </a:r>
            <a:endParaRPr dirty="0"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 dirty="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size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current length</a:t>
            </a:r>
            <a:endParaRPr dirty="0"/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1" name="Google Shape;611;p1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9100" y="2133600"/>
            <a:ext cx="64770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109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83BF9A-F7D4-37F3-EC25-0C3E3211CAC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10"/>
          <p:cNvSpPr/>
          <p:nvPr/>
        </p:nvSpPr>
        <p:spPr>
          <a:xfrm>
            <a:off x="603313" y="549275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10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Adding an Element with 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add()</a:t>
            </a:r>
            <a:endParaRPr/>
          </a:p>
        </p:txBody>
      </p:sp>
      <p:sp>
        <p:nvSpPr>
          <p:cNvPr id="619" name="Google Shape;619;p110"/>
          <p:cNvSpPr txBox="1"/>
          <p:nvPr/>
        </p:nvSpPr>
        <p:spPr>
          <a:xfrm>
            <a:off x="685800" y="762000"/>
            <a:ext cx="5351509" cy="140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300" dirty="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r>
              <a:rPr lang="en-US" sz="13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method has two versions:</a:t>
            </a:r>
            <a:endParaRPr dirty="0"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 a new element to add to the end</a:t>
            </a:r>
            <a:endParaRPr dirty="0"/>
          </a:p>
          <a:p>
            <a:pPr marL="457200" marR="0" lvl="1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 a location (index) and the new value to add</a:t>
            </a:r>
            <a:endParaRPr dirty="0"/>
          </a:p>
          <a:p>
            <a:pPr marL="914400" marR="0" lvl="2" indent="0" algn="l" rtl="0">
              <a:spcBef>
                <a:spcPts val="35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   	Moves all other elements</a:t>
            </a:r>
            <a:endParaRPr dirty="0"/>
          </a:p>
        </p:txBody>
      </p:sp>
      <p:sp>
        <p:nvSpPr>
          <p:cNvPr id="620" name="Google Shape;620;p110"/>
          <p:cNvSpPr txBox="1"/>
          <p:nvPr/>
        </p:nvSpPr>
        <p:spPr>
          <a:xfrm>
            <a:off x="1752600" y="1219200"/>
            <a:ext cx="2133600" cy="304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names.</a:t>
            </a:r>
            <a:r>
              <a:rPr lang="en-US" sz="1300" dirty="0" err="1">
                <a:solidFill>
                  <a:srgbClr val="0033CC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(“Cindy”);</a:t>
            </a:r>
            <a:endParaRPr sz="1300" dirty="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1" name="Google Shape;621;p110"/>
          <p:cNvSpPr txBox="1"/>
          <p:nvPr/>
        </p:nvSpPr>
        <p:spPr>
          <a:xfrm>
            <a:off x="1066800" y="1828800"/>
            <a:ext cx="2286000" cy="304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names.</a:t>
            </a:r>
            <a:r>
              <a:rPr lang="en-US" sz="1300" dirty="0" err="1">
                <a:solidFill>
                  <a:srgbClr val="0033CC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(1,“Cindy”);</a:t>
            </a:r>
            <a:endParaRPr sz="1300" dirty="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22" name="Google Shape;622;p1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8400" y="2286000"/>
            <a:ext cx="4629150" cy="1636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1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1" y="3116744"/>
            <a:ext cx="3733799" cy="1420439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110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D208A3-41D5-9B3F-EEE6-64872B4C961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11"/>
          <p:cNvSpPr/>
          <p:nvPr/>
        </p:nvSpPr>
        <p:spPr>
          <a:xfrm>
            <a:off x="603313" y="549275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11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Adding an Element in the Middle</a:t>
            </a:r>
            <a:endParaRPr/>
          </a:p>
        </p:txBody>
      </p:sp>
      <p:sp>
        <p:nvSpPr>
          <p:cNvPr id="631" name="Google Shape;631;p111"/>
          <p:cNvSpPr txBox="1"/>
          <p:nvPr/>
        </p:nvSpPr>
        <p:spPr>
          <a:xfrm>
            <a:off x="685800" y="762000"/>
            <a:ext cx="5351509" cy="451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 a location (index) and the new value to add</a:t>
            </a:r>
            <a:endParaRPr dirty="0"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 dirty="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Moves all other elements</a:t>
            </a:r>
            <a:endParaRPr dirty="0">
              <a:highlight>
                <a:srgbClr val="FFFF00"/>
              </a:highlight>
            </a:endParaRPr>
          </a:p>
        </p:txBody>
      </p:sp>
      <p:pic>
        <p:nvPicPr>
          <p:cNvPr id="632" name="Google Shape;632;p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1" y="1413084"/>
            <a:ext cx="4572000" cy="1634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111"/>
          <p:cNvPicPr preferRelativeResize="0"/>
          <p:nvPr/>
        </p:nvPicPr>
        <p:blipFill rotWithShape="1">
          <a:blip r:embed="rId4">
            <a:alphaModFix/>
          </a:blip>
          <a:srcRect l="42732" t="13919"/>
          <a:stretch/>
        </p:blipFill>
        <p:spPr>
          <a:xfrm>
            <a:off x="3353651" y="3048000"/>
            <a:ext cx="3905364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111"/>
          <p:cNvSpPr txBox="1"/>
          <p:nvPr/>
        </p:nvSpPr>
        <p:spPr>
          <a:xfrm>
            <a:off x="609600" y="3200400"/>
            <a:ext cx="2438400" cy="381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names.add(1, “Ann”);</a:t>
            </a:r>
            <a:endParaRPr sz="13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5" name="Google Shape;635;p111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4827F56-32C9-8504-9326-E7E2C41CEB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12"/>
          <p:cNvSpPr/>
          <p:nvPr/>
        </p:nvSpPr>
        <p:spPr>
          <a:xfrm>
            <a:off x="603313" y="549275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12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Removing an Element</a:t>
            </a:r>
            <a:endParaRPr/>
          </a:p>
        </p:txBody>
      </p:sp>
      <p:sp>
        <p:nvSpPr>
          <p:cNvPr id="642" name="Google Shape;642;p112"/>
          <p:cNvSpPr txBox="1"/>
          <p:nvPr/>
        </p:nvSpPr>
        <p:spPr>
          <a:xfrm>
            <a:off x="685800" y="762000"/>
            <a:ext cx="5351509" cy="451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 a location (index) to be removed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Moves all other elements</a:t>
            </a:r>
            <a:endParaRPr/>
          </a:p>
        </p:txBody>
      </p:sp>
      <p:sp>
        <p:nvSpPr>
          <p:cNvPr id="643" name="Google Shape;643;p112"/>
          <p:cNvSpPr txBox="1"/>
          <p:nvPr/>
        </p:nvSpPr>
        <p:spPr>
          <a:xfrm>
            <a:off x="609600" y="3200400"/>
            <a:ext cx="1981200" cy="381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names.</a:t>
            </a:r>
            <a:r>
              <a:rPr lang="en-US" sz="1300" dirty="0" err="1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remove</a:t>
            </a: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(1);</a:t>
            </a:r>
            <a:endParaRPr sz="1300" dirty="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44" name="Google Shape;644;p1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1371600"/>
            <a:ext cx="3557264" cy="17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1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5600" y="3124200"/>
            <a:ext cx="409469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112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F960367-55BA-64C8-860B-7676EF311A3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13"/>
          <p:cNvSpPr/>
          <p:nvPr/>
        </p:nvSpPr>
        <p:spPr>
          <a:xfrm>
            <a:off x="603313" y="549275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13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Using Loops with Array Lists</a:t>
            </a:r>
            <a:endParaRPr/>
          </a:p>
        </p:txBody>
      </p:sp>
      <p:sp>
        <p:nvSpPr>
          <p:cNvPr id="653" name="Google Shape;653;p113"/>
          <p:cNvSpPr txBox="1"/>
          <p:nvPr/>
        </p:nvSpPr>
        <p:spPr>
          <a:xfrm>
            <a:off x="685800" y="762000"/>
            <a:ext cx="5351509" cy="195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use the enhanced for loop with Array Lists:</a:t>
            </a:r>
            <a:endParaRPr/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ordinary loops:</a:t>
            </a:r>
            <a:endParaRPr/>
          </a:p>
        </p:txBody>
      </p:sp>
      <p:sp>
        <p:nvSpPr>
          <p:cNvPr id="654" name="Google Shape;654;p113"/>
          <p:cNvSpPr txBox="1"/>
          <p:nvPr/>
        </p:nvSpPr>
        <p:spPr>
          <a:xfrm>
            <a:off x="1219200" y="1143000"/>
            <a:ext cx="3581400" cy="1143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ArrayList</a:t>
            </a: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&lt;String&gt; names = . . . ;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 dirty="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for (String name : names)</a:t>
            </a:r>
            <a:endParaRPr dirty="0">
              <a:highlight>
                <a:srgbClr val="FFFF00"/>
              </a:highlight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3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</a:t>
            </a: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(name);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dirty="0"/>
          </a:p>
        </p:txBody>
      </p:sp>
      <p:sp>
        <p:nvSpPr>
          <p:cNvPr id="655" name="Google Shape;655;p113"/>
          <p:cNvSpPr txBox="1"/>
          <p:nvPr/>
        </p:nvSpPr>
        <p:spPr>
          <a:xfrm>
            <a:off x="1219200" y="2819400"/>
            <a:ext cx="3962400" cy="12954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ArrayList</a:t>
            </a: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&lt;String&gt; names = . . . ;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 dirty="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for (int </a:t>
            </a:r>
            <a:r>
              <a:rPr lang="en-US" sz="1300" dirty="0" err="1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300" dirty="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= 0; </a:t>
            </a:r>
            <a:r>
              <a:rPr lang="en-US" sz="1300" dirty="0" err="1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300" dirty="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&lt; </a:t>
            </a:r>
            <a:r>
              <a:rPr lang="en-US" sz="1300" dirty="0" err="1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names.size</a:t>
            </a:r>
            <a:r>
              <a:rPr lang="en-US" sz="1300" dirty="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-US" sz="1300" dirty="0" err="1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300" dirty="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++)</a:t>
            </a:r>
            <a:endParaRPr dirty="0">
              <a:highlight>
                <a:srgbClr val="FFFF00"/>
              </a:highlight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String name = </a:t>
            </a:r>
            <a:r>
              <a:rPr lang="en-US" sz="13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names.get</a:t>
            </a: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3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</a:t>
            </a: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(name);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dirty="0"/>
          </a:p>
        </p:txBody>
      </p:sp>
      <p:sp>
        <p:nvSpPr>
          <p:cNvPr id="656" name="Google Shape;656;p113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63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60AB28-BDB8-BC30-4EDC-2B50D032A0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14"/>
          <p:cNvSpPr/>
          <p:nvPr/>
        </p:nvSpPr>
        <p:spPr>
          <a:xfrm>
            <a:off x="603313" y="549275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14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Working with Array Lists</a:t>
            </a:r>
            <a:endParaRPr/>
          </a:p>
        </p:txBody>
      </p:sp>
      <p:pic>
        <p:nvPicPr>
          <p:cNvPr id="663" name="Google Shape;663;p1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685800"/>
            <a:ext cx="6781800" cy="383654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114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64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DC7340A-3C2B-1DEA-F527-B44C07CCE1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1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2800" y="838200"/>
            <a:ext cx="3276600" cy="1305618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115"/>
          <p:cNvSpPr/>
          <p:nvPr/>
        </p:nvSpPr>
        <p:spPr>
          <a:xfrm>
            <a:off x="603313" y="549275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15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Copying an 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ArrayList</a:t>
            </a:r>
            <a:endParaRPr/>
          </a:p>
        </p:txBody>
      </p:sp>
      <p:sp>
        <p:nvSpPr>
          <p:cNvPr id="672" name="Google Shape;672;p115"/>
          <p:cNvSpPr txBox="1"/>
          <p:nvPr/>
        </p:nvSpPr>
        <p:spPr>
          <a:xfrm>
            <a:off x="685800" y="762000"/>
            <a:ext cx="5562600" cy="1856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Remember that </a:t>
            </a:r>
            <a:r>
              <a:rPr lang="en-US" sz="13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ArrayList</a:t>
            </a:r>
            <a:r>
              <a:rPr lang="en-US" sz="13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variables hold a reference to an </a:t>
            </a:r>
            <a:r>
              <a:rPr lang="en-US" sz="13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ArrayList</a:t>
            </a:r>
            <a:r>
              <a:rPr lang="en-US" sz="13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(just like arrays)</a:t>
            </a:r>
            <a:endParaRPr dirty="0"/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Copying a reference:</a:t>
            </a:r>
            <a:endParaRPr dirty="0"/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dirty="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To make a copy, pass the reference of the original </a:t>
            </a:r>
            <a:r>
              <a:rPr lang="en-US" sz="1300" dirty="0" err="1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ArrayList</a:t>
            </a:r>
            <a:r>
              <a:rPr lang="en-US" sz="1300" dirty="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to the constructor of the new one</a:t>
            </a:r>
            <a:r>
              <a:rPr lang="en-US" sz="13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dirty="0"/>
          </a:p>
        </p:txBody>
      </p:sp>
      <p:sp>
        <p:nvSpPr>
          <p:cNvPr id="673" name="Google Shape;673;p115"/>
          <p:cNvSpPr txBox="1"/>
          <p:nvPr/>
        </p:nvSpPr>
        <p:spPr>
          <a:xfrm>
            <a:off x="762000" y="1600200"/>
            <a:ext cx="3657600" cy="5334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ArrayList&lt;String&gt; friends = 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names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friends.add("Harry");</a:t>
            </a:r>
            <a:endParaRPr/>
          </a:p>
        </p:txBody>
      </p:sp>
      <p:sp>
        <p:nvSpPr>
          <p:cNvPr id="674" name="Google Shape;674;p115"/>
          <p:cNvSpPr txBox="1"/>
          <p:nvPr/>
        </p:nvSpPr>
        <p:spPr>
          <a:xfrm>
            <a:off x="457200" y="3124200"/>
            <a:ext cx="6324600" cy="304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ArrayList&lt;String&gt; newNames = new ArrayList&lt;String&gt;(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names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5" name="Google Shape;675;p115"/>
          <p:cNvSpPr/>
          <p:nvPr/>
        </p:nvSpPr>
        <p:spPr>
          <a:xfrm>
            <a:off x="4876800" y="2743200"/>
            <a:ext cx="1905000" cy="381000"/>
          </a:xfrm>
          <a:prstGeom prst="downArrow">
            <a:avLst>
              <a:gd name="adj1" fmla="val 60371"/>
              <a:gd name="adj2" fmla="val 67941"/>
            </a:avLst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</a:t>
            </a:r>
            <a:endParaRPr/>
          </a:p>
        </p:txBody>
      </p:sp>
      <p:sp>
        <p:nvSpPr>
          <p:cNvPr id="676" name="Google Shape;676;p115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65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E312D1C-6085-760C-9106-1A1CFAB0615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16"/>
          <p:cNvSpPr/>
          <p:nvPr/>
        </p:nvSpPr>
        <p:spPr>
          <a:xfrm>
            <a:off x="603313" y="549275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16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Array Lists and Methods</a:t>
            </a:r>
            <a:endParaRPr/>
          </a:p>
        </p:txBody>
      </p:sp>
      <p:sp>
        <p:nvSpPr>
          <p:cNvPr id="683" name="Google Shape;683;p116"/>
          <p:cNvSpPr txBox="1"/>
          <p:nvPr/>
        </p:nvSpPr>
        <p:spPr>
          <a:xfrm>
            <a:off x="685800" y="762000"/>
            <a:ext cx="5410200" cy="851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Like arrays, Array Lists can be method parameter variables and return values</a:t>
            </a:r>
            <a:endParaRPr/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 is an example: a method that receives a list of 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and returns the reversed list</a:t>
            </a:r>
            <a:endParaRPr/>
          </a:p>
        </p:txBody>
      </p:sp>
      <p:sp>
        <p:nvSpPr>
          <p:cNvPr id="684" name="Google Shape;684;p116"/>
          <p:cNvSpPr txBox="1"/>
          <p:nvPr/>
        </p:nvSpPr>
        <p:spPr>
          <a:xfrm>
            <a:off x="228600" y="1981200"/>
            <a:ext cx="6629400" cy="24384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ArrayList&lt;String&gt; reverse(ArrayList&lt;String&gt; 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names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3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// Allocate a list to hold the method result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ArrayList&lt;String&gt; result = new ArrayList&lt;String&gt;();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3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// Traverse the names list in reverse order (last to first)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 (int i = names.size() - 1; i &gt;= 0; i--)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3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// Add each name to the result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result.add(names.get(i));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return result;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5" name="Google Shape;685;p116"/>
          <p:cNvSpPr/>
          <p:nvPr/>
        </p:nvSpPr>
        <p:spPr>
          <a:xfrm>
            <a:off x="5410200" y="1600200"/>
            <a:ext cx="1676400" cy="381000"/>
          </a:xfrm>
          <a:prstGeom prst="downArrow">
            <a:avLst>
              <a:gd name="adj1" fmla="val 60371"/>
              <a:gd name="adj2" fmla="val 67941"/>
            </a:avLst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</a:t>
            </a:r>
            <a:endParaRPr/>
          </a:p>
        </p:txBody>
      </p:sp>
      <p:sp>
        <p:nvSpPr>
          <p:cNvPr id="686" name="Google Shape;686;p116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66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3A8B6F-15F5-0EA9-EF89-B051C55834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117"/>
          <p:cNvSpPr/>
          <p:nvPr/>
        </p:nvSpPr>
        <p:spPr>
          <a:xfrm>
            <a:off x="603313" y="549275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17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Wrappers and Auto-boxing</a:t>
            </a:r>
            <a:endParaRPr/>
          </a:p>
        </p:txBody>
      </p:sp>
      <p:sp>
        <p:nvSpPr>
          <p:cNvPr id="693" name="Google Shape;693;p117"/>
          <p:cNvSpPr txBox="1"/>
          <p:nvPr/>
        </p:nvSpPr>
        <p:spPr>
          <a:xfrm>
            <a:off x="685800" y="762000"/>
            <a:ext cx="5410200" cy="271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provides </a:t>
            </a:r>
            <a:r>
              <a:rPr lang="en-US" sz="13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wrapper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classes for primitive types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Conversions are automatic using </a:t>
            </a:r>
            <a:r>
              <a:rPr lang="en-US" sz="13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auto-boxing</a:t>
            </a:r>
            <a:endParaRPr/>
          </a:p>
          <a:p>
            <a:pPr marL="914400" marR="0" lvl="2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Primitive to </a:t>
            </a: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wrapper</a:t>
            </a: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Class</a:t>
            </a:r>
            <a:endParaRPr/>
          </a:p>
          <a:p>
            <a:pPr marL="457200" marR="0" lvl="1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wrapper</a:t>
            </a: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Class to primitive</a:t>
            </a:r>
            <a:endParaRPr/>
          </a:p>
        </p:txBody>
      </p:sp>
      <p:sp>
        <p:nvSpPr>
          <p:cNvPr id="694" name="Google Shape;694;p117"/>
          <p:cNvSpPr txBox="1"/>
          <p:nvPr/>
        </p:nvSpPr>
        <p:spPr>
          <a:xfrm>
            <a:off x="1752600" y="1524000"/>
            <a:ext cx="2514600" cy="685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x = 29.95;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wrapper;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wrapper = x;  </a:t>
            </a:r>
            <a:r>
              <a:rPr lang="en-US" sz="13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// boxing</a:t>
            </a:r>
            <a:endParaRPr/>
          </a:p>
        </p:txBody>
      </p:sp>
      <p:pic>
        <p:nvPicPr>
          <p:cNvPr id="695" name="Google Shape;695;p1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1295400"/>
            <a:ext cx="2477794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1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" y="2286000"/>
            <a:ext cx="4038600" cy="87197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117"/>
          <p:cNvSpPr txBox="1"/>
          <p:nvPr/>
        </p:nvSpPr>
        <p:spPr>
          <a:xfrm>
            <a:off x="1676400" y="3505200"/>
            <a:ext cx="2667000" cy="685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x;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wrapper = 29.95;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= wrapper;  </a:t>
            </a:r>
            <a:r>
              <a:rPr lang="en-US" sz="13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// unboxing</a:t>
            </a:r>
            <a:endParaRPr/>
          </a:p>
        </p:txBody>
      </p:sp>
      <p:sp>
        <p:nvSpPr>
          <p:cNvPr id="698" name="Google Shape;698;p117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67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13A91C4-F82F-5B74-FB76-83D37D98821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18"/>
          <p:cNvSpPr/>
          <p:nvPr/>
        </p:nvSpPr>
        <p:spPr>
          <a:xfrm>
            <a:off x="603313" y="549275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18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Wrappers and Auto-boxing</a:t>
            </a:r>
            <a:endParaRPr/>
          </a:p>
        </p:txBody>
      </p:sp>
      <p:sp>
        <p:nvSpPr>
          <p:cNvPr id="705" name="Google Shape;705;p118"/>
          <p:cNvSpPr txBox="1"/>
          <p:nvPr/>
        </p:nvSpPr>
        <p:spPr>
          <a:xfrm>
            <a:off x="685800" y="762000"/>
            <a:ext cx="5410200" cy="1656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cannot use primitive types in an 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ArrayList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but you can use their wrapper classes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 on auto-boxing for conversion</a:t>
            </a:r>
            <a:endParaRPr/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Declare the 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ArrayList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wrapper classes for primitive types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ArrayList&lt;Double&gt;</a:t>
            </a:r>
            <a:endParaRPr/>
          </a:p>
          <a:p>
            <a:pPr marL="914400" marR="0" lvl="2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primitive double variables</a:t>
            </a:r>
            <a:endParaRPr/>
          </a:p>
          <a:p>
            <a:pPr marL="914400" marR="0" lvl="2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values</a:t>
            </a:r>
            <a:endParaRPr/>
          </a:p>
        </p:txBody>
      </p:sp>
      <p:sp>
        <p:nvSpPr>
          <p:cNvPr id="706" name="Google Shape;706;p118"/>
          <p:cNvSpPr txBox="1"/>
          <p:nvPr/>
        </p:nvSpPr>
        <p:spPr>
          <a:xfrm>
            <a:off x="1066800" y="2514600"/>
            <a:ext cx="5257800" cy="1143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x = 19.95;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ArrayList&lt;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values = new ArrayList&lt;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&gt;();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values.add(29.95);		</a:t>
            </a:r>
            <a:r>
              <a:rPr lang="en-US" sz="13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// boxing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values.add(x);			</a:t>
            </a:r>
            <a:r>
              <a:rPr lang="en-US" sz="13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// boxing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x = values.get(0);   	</a:t>
            </a:r>
            <a:r>
              <a:rPr lang="en-US" sz="13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// unboxing</a:t>
            </a:r>
            <a:endParaRPr/>
          </a:p>
        </p:txBody>
      </p:sp>
      <p:sp>
        <p:nvSpPr>
          <p:cNvPr id="707" name="Google Shape;707;p118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68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81694DA-131B-A491-13DE-23B92780283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19"/>
          <p:cNvSpPr/>
          <p:nvPr/>
        </p:nvSpPr>
        <p:spPr>
          <a:xfrm>
            <a:off x="603313" y="549275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19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ArrayList</a:t>
            </a:r>
            <a:r>
              <a:rPr lang="en-US" sz="1800"/>
              <a:t> Algorithms</a:t>
            </a:r>
            <a:endParaRPr/>
          </a:p>
        </p:txBody>
      </p:sp>
      <p:sp>
        <p:nvSpPr>
          <p:cNvPr id="714" name="Google Shape;714;p119"/>
          <p:cNvSpPr txBox="1"/>
          <p:nvPr/>
        </p:nvSpPr>
        <p:spPr>
          <a:xfrm>
            <a:off x="685800" y="762000"/>
            <a:ext cx="5410200" cy="271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Converting from Array to </a:t>
            </a:r>
            <a:r>
              <a:rPr lang="en-US" sz="13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ArrayList</a:t>
            </a:r>
            <a:r>
              <a:rPr lang="en-US" sz="13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requires changing:</a:t>
            </a:r>
            <a:endParaRPr dirty="0"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index usage:</a:t>
            </a:r>
            <a:r>
              <a:rPr lang="en-US" sz="1300" b="0" i="0" u="none" strike="noStrike" cap="none" dirty="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0" i="0" u="none" strike="noStrike" cap="none" dirty="0">
                <a:solidFill>
                  <a:srgbClr val="0033CC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300" b="0" i="0" u="none" strike="noStrike" cap="none" dirty="0" err="1">
                <a:solidFill>
                  <a:srgbClr val="0033CC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300" b="0" i="0" u="none" strike="noStrike" cap="none" dirty="0">
                <a:solidFill>
                  <a:srgbClr val="0033CC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dirty="0">
              <a:highlight>
                <a:srgbClr val="FFFF00"/>
              </a:highlight>
            </a:endParaRPr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 dirty="0" err="1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lang="en-US" sz="1300" b="0" i="0" u="none" strike="noStrike" cap="none" dirty="0" err="1">
                <a:solidFill>
                  <a:srgbClr val="0033CC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.length</a:t>
            </a:r>
            <a:endParaRPr sz="1300" b="0" i="0" u="none" strike="noStrike" cap="none" dirty="0">
              <a:solidFill>
                <a:srgbClr val="0033CC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1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spcBef>
                <a:spcPts val="350"/>
              </a:spcBef>
              <a:spcAft>
                <a:spcPts val="0"/>
              </a:spcAft>
              <a:buNone/>
            </a:pP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endParaRPr dirty="0"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methods: </a:t>
            </a:r>
            <a:r>
              <a:rPr lang="en-US" sz="1300" b="0" i="0" u="none" strike="noStrike" cap="none" dirty="0">
                <a:solidFill>
                  <a:srgbClr val="00B05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get()</a:t>
            </a:r>
            <a:endParaRPr dirty="0">
              <a:highlight>
                <a:srgbClr val="FFFF00"/>
              </a:highlight>
            </a:endParaRPr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rgbClr val="00B050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 dirty="0" err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lang="en-US" sz="1300" b="0" i="0" u="none" strike="noStrike" cap="none" dirty="0" err="1">
                <a:solidFill>
                  <a:srgbClr val="00B05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.size</a:t>
            </a:r>
            <a:r>
              <a:rPr lang="en-US" sz="1300" b="0" i="0" u="none" strike="noStrike" cap="none" dirty="0">
                <a:solidFill>
                  <a:srgbClr val="00B05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300" b="0" i="0" u="none" strike="noStrike" cap="none" dirty="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15" name="Google Shape;715;p119"/>
          <p:cNvSpPr txBox="1"/>
          <p:nvPr/>
        </p:nvSpPr>
        <p:spPr>
          <a:xfrm>
            <a:off x="2819400" y="990600"/>
            <a:ext cx="4191000" cy="17526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largest = 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values[0]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1; i &lt; 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values.length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i++)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if (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values[i]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&gt; largest)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largest = </a:t>
            </a:r>
            <a:r>
              <a:rPr lang="en-US" sz="13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values[i]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16" name="Google Shape;716;p119"/>
          <p:cNvSpPr txBox="1"/>
          <p:nvPr/>
        </p:nvSpPr>
        <p:spPr>
          <a:xfrm>
            <a:off x="2819400" y="2895600"/>
            <a:ext cx="4191000" cy="17526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60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largest = </a:t>
            </a:r>
            <a:r>
              <a:rPr lang="en-US" sz="13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values.get(0)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1; i &lt; </a:t>
            </a:r>
            <a:r>
              <a:rPr lang="en-US" sz="13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values.size()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i++)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if (</a:t>
            </a:r>
            <a:r>
              <a:rPr lang="en-US" sz="13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values.get(i)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&gt; largest)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largest = </a:t>
            </a:r>
            <a:r>
              <a:rPr lang="en-US" sz="13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values.get(i)</a:t>
            </a: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835E01"/>
              </a:buClr>
              <a:buSzPts val="780"/>
              <a:buFont typeface="Noto Sans Symbols"/>
              <a:buNone/>
            </a:pPr>
            <a:r>
              <a:rPr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717" name="Google Shape;717;p119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69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A0ED15-5127-964D-D47C-D453FD0A3FF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20"/>
          <p:cNvSpPr/>
          <p:nvPr/>
        </p:nvSpPr>
        <p:spPr>
          <a:xfrm>
            <a:off x="603313" y="549275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20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Choosing Arrays or Array Lists</a:t>
            </a:r>
            <a:endParaRPr/>
          </a:p>
        </p:txBody>
      </p:sp>
      <p:sp>
        <p:nvSpPr>
          <p:cNvPr id="724" name="Google Shape;724;p120"/>
          <p:cNvSpPr txBox="1"/>
          <p:nvPr/>
        </p:nvSpPr>
        <p:spPr>
          <a:xfrm>
            <a:off x="685800" y="762000"/>
            <a:ext cx="5410200" cy="195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an Array if: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size of the array never changes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have a long list of primitive values</a:t>
            </a:r>
            <a:endParaRPr/>
          </a:p>
          <a:p>
            <a:pPr marL="914400" marR="0" lvl="2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efficiency reasons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Your instructor wants you to</a:t>
            </a:r>
            <a:endParaRPr/>
          </a:p>
          <a:p>
            <a:pPr marL="0" marR="0" lvl="0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an Array List: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just about all other cases 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Especially if you have an unknown number of input values</a:t>
            </a:r>
            <a:endParaRPr/>
          </a:p>
        </p:txBody>
      </p:sp>
      <p:sp>
        <p:nvSpPr>
          <p:cNvPr id="725" name="Google Shape;725;p120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70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45ABC8-D805-FECF-D65E-C8D2471D2A0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121"/>
          <p:cNvSpPr/>
          <p:nvPr/>
        </p:nvSpPr>
        <p:spPr>
          <a:xfrm>
            <a:off x="603313" y="549275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21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Array and Array List Operations</a:t>
            </a:r>
            <a:endParaRPr/>
          </a:p>
        </p:txBody>
      </p:sp>
      <p:pic>
        <p:nvPicPr>
          <p:cNvPr id="732" name="Google Shape;732;p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685800"/>
            <a:ext cx="6477000" cy="3952946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121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71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00FB6F0-1530-0337-A869-CBE9F78CFDD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22"/>
          <p:cNvSpPr/>
          <p:nvPr/>
        </p:nvSpPr>
        <p:spPr>
          <a:xfrm>
            <a:off x="603313" y="562438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22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Self Check 6.39</a:t>
            </a:r>
            <a:endParaRPr/>
          </a:p>
        </p:txBody>
      </p:sp>
      <p:sp>
        <p:nvSpPr>
          <p:cNvPr id="740" name="Google Shape;740;p122"/>
          <p:cNvSpPr txBox="1"/>
          <p:nvPr/>
        </p:nvSpPr>
        <p:spPr>
          <a:xfrm>
            <a:off x="590613" y="722510"/>
            <a:ext cx="5260340" cy="2241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Declare an array list </a:t>
            </a: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primes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integers that contains the first five prime numbers (2, 3, 5, 7, and 11). </a:t>
            </a:r>
            <a:endParaRPr/>
          </a:p>
          <a:p>
            <a:pPr marL="264160" marR="0" lvl="0" indent="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Answer:  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ArrayList&lt;Integer&gt; primes =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new ArrayList&lt;Integer&gt;();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primes.add(2);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primes.add(3);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primes.add(5);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primes.add(7);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primes.add(11);</a:t>
            </a:r>
            <a:endParaRPr/>
          </a:p>
          <a:p>
            <a:pPr marL="264160" marR="0" lvl="0" indent="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122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72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34BA086-00DB-F189-6064-ECF462D0F1B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123"/>
          <p:cNvSpPr/>
          <p:nvPr/>
        </p:nvSpPr>
        <p:spPr>
          <a:xfrm>
            <a:off x="603313" y="562438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23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Self Check 6.40</a:t>
            </a:r>
            <a:endParaRPr/>
          </a:p>
        </p:txBody>
      </p:sp>
      <p:sp>
        <p:nvSpPr>
          <p:cNvPr id="748" name="Google Shape;748;p123"/>
          <p:cNvSpPr txBox="1"/>
          <p:nvPr/>
        </p:nvSpPr>
        <p:spPr>
          <a:xfrm>
            <a:off x="590612" y="722510"/>
            <a:ext cx="5886387" cy="164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the array list </a:t>
            </a:r>
            <a:r>
              <a:rPr lang="en-U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primes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declared in Self Check 39, write a loop to print its elements in reverse order, starting with the last element. 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64160" marR="0" lvl="0" indent="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Answer:  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primes.size() - 1; i &gt;= 0; i--)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System.out.println(primes.get(i));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264160" marR="0" lvl="0" indent="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9" name="Google Shape;749;p123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73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511BEAD-E423-7632-B876-3CAED7019A7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29"/>
          <p:cNvSpPr/>
          <p:nvPr/>
        </p:nvSpPr>
        <p:spPr>
          <a:xfrm>
            <a:off x="603313" y="549905"/>
            <a:ext cx="5508625" cy="60325"/>
          </a:xfrm>
          <a:custGeom>
            <a:avLst/>
            <a:gdLst/>
            <a:ahLst/>
            <a:cxnLst/>
            <a:rect l="l" t="t" r="r" b="b"/>
            <a:pathLst>
              <a:path w="5508625" h="60325" extrusionOk="0">
                <a:moveTo>
                  <a:pt x="0" y="0"/>
                </a:moveTo>
                <a:lnTo>
                  <a:pt x="5508288" y="0"/>
                </a:lnTo>
                <a:lnTo>
                  <a:pt x="5508288" y="59954"/>
                </a:lnTo>
                <a:lnTo>
                  <a:pt x="0" y="59954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29"/>
          <p:cNvSpPr txBox="1">
            <a:spLocks noGrp="1"/>
          </p:cNvSpPr>
          <p:nvPr>
            <p:ph type="title"/>
          </p:nvPr>
        </p:nvSpPr>
        <p:spPr>
          <a:xfrm>
            <a:off x="590613" y="244762"/>
            <a:ext cx="61339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Common Error</a:t>
            </a:r>
            <a:endParaRPr/>
          </a:p>
        </p:txBody>
      </p:sp>
      <p:sp>
        <p:nvSpPr>
          <p:cNvPr id="756" name="Google Shape;756;p129"/>
          <p:cNvSpPr txBox="1"/>
          <p:nvPr/>
        </p:nvSpPr>
        <p:spPr>
          <a:xfrm>
            <a:off x="609600" y="729545"/>
            <a:ext cx="5486400" cy="130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Length versus Size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Unfortunately, the Java syntax for determining the number of elements in an array, an </a:t>
            </a: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ArrayList</a:t>
            </a: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a </a:t>
            </a:r>
            <a:r>
              <a:rPr lang="en-US" sz="13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not consistent. </a:t>
            </a:r>
            <a:endParaRPr/>
          </a:p>
          <a:p>
            <a:pPr marL="457200" marR="0" lvl="1" indent="-8255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a common error to confuse these. You just have to remember the correct syntax for each data type.</a:t>
            </a:r>
            <a:endParaRPr/>
          </a:p>
        </p:txBody>
      </p:sp>
      <p:pic>
        <p:nvPicPr>
          <p:cNvPr id="757" name="Google Shape;757;p1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1201" y="2286000"/>
            <a:ext cx="3581400" cy="1817201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129"/>
          <p:cNvSpPr txBox="1">
            <a:spLocks noGrp="1"/>
          </p:cNvSpPr>
          <p:nvPr>
            <p:ph type="sldNum" idx="12"/>
          </p:nvPr>
        </p:nvSpPr>
        <p:spPr>
          <a:xfrm>
            <a:off x="5266944" y="5102352"/>
            <a:ext cx="1682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74</a:t>
            </a:fld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955300C-EED8-D301-10B7-58133802AF0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TR"/>
              <a:t>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1491</TotalTime>
  <Words>4912</Words>
  <Application>Microsoft Macintosh PowerPoint</Application>
  <PresentationFormat>Custom</PresentationFormat>
  <Paragraphs>889</Paragraphs>
  <Slides>74</Slides>
  <Notes>74</Notes>
  <HiddenSlides>10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3" baseType="lpstr">
      <vt:lpstr>Arial</vt:lpstr>
      <vt:lpstr>Calibri</vt:lpstr>
      <vt:lpstr>Comic Sans MS</vt:lpstr>
      <vt:lpstr>Consolas</vt:lpstr>
      <vt:lpstr>Courier</vt:lpstr>
      <vt:lpstr>Courier New</vt:lpstr>
      <vt:lpstr>Noto Sans Symbols</vt:lpstr>
      <vt:lpstr>Trebuchet MS</vt:lpstr>
      <vt:lpstr>Office Theme</vt:lpstr>
      <vt:lpstr>Chapter 6 – Arrays and Array Lists</vt:lpstr>
      <vt:lpstr>Chapter Goals</vt:lpstr>
      <vt:lpstr>Arrays</vt:lpstr>
      <vt:lpstr>Declaring an Array</vt:lpstr>
      <vt:lpstr>Declaring and Initializing an Array</vt:lpstr>
      <vt:lpstr>Accessing Array Elements</vt:lpstr>
      <vt:lpstr>Syntax 6.1 Array</vt:lpstr>
      <vt:lpstr>Array Index Numbers</vt:lpstr>
      <vt:lpstr>Array Bounds Checking</vt:lpstr>
      <vt:lpstr>Summary: Declaring Arrays</vt:lpstr>
      <vt:lpstr>Array Aliases</vt:lpstr>
      <vt:lpstr>Self Check 6.1</vt:lpstr>
      <vt:lpstr>Self Check 6.2</vt:lpstr>
      <vt:lpstr>Self Check 6.3</vt:lpstr>
      <vt:lpstr>Self Check 6.5</vt:lpstr>
      <vt:lpstr>Self Check 6.6</vt:lpstr>
      <vt:lpstr>Common Error</vt:lpstr>
      <vt:lpstr>Common Error</vt:lpstr>
      <vt:lpstr>The Enhanced for Loop</vt:lpstr>
      <vt:lpstr>Syntax 6.2 The Enhanced for loop</vt:lpstr>
      <vt:lpstr>Self Check 6.9</vt:lpstr>
      <vt:lpstr>Self Check 6.10</vt:lpstr>
      <vt:lpstr>Common Array Algorithms</vt:lpstr>
      <vt:lpstr>Common Algorithms 1 and 2</vt:lpstr>
      <vt:lpstr>Common Algorithms 3</vt:lpstr>
      <vt:lpstr>Common Algorithms 4</vt:lpstr>
      <vt:lpstr>Common Algorithms 5</vt:lpstr>
      <vt:lpstr>Common Algorithms 6a</vt:lpstr>
      <vt:lpstr>Common Algorithms 6b</vt:lpstr>
      <vt:lpstr>Common Algorithms 7</vt:lpstr>
      <vt:lpstr>Common Algorithms 7</vt:lpstr>
      <vt:lpstr>Common Algorithms 8</vt:lpstr>
      <vt:lpstr>Common Algorithms 9a</vt:lpstr>
      <vt:lpstr>Common Algorithms 9b</vt:lpstr>
      <vt:lpstr>Common Algorithms 10</vt:lpstr>
      <vt:lpstr>LargestInArray.java (1)</vt:lpstr>
      <vt:lpstr>LargestInArray.java (2)</vt:lpstr>
      <vt:lpstr>Special Topic:  Sorting Arrays</vt:lpstr>
      <vt:lpstr>Special Topic: Searching</vt:lpstr>
      <vt:lpstr>Binary Search</vt:lpstr>
      <vt:lpstr>Binary Search Example</vt:lpstr>
      <vt:lpstr>Using Arrays with Methods</vt:lpstr>
      <vt:lpstr>Passing References (Step 1)</vt:lpstr>
      <vt:lpstr>Passing References (Step 2)</vt:lpstr>
      <vt:lpstr>Passing References (Steps 3 &amp; 4)</vt:lpstr>
      <vt:lpstr>Method Returning an Array</vt:lpstr>
      <vt:lpstr>Self Check 6.22</vt:lpstr>
      <vt:lpstr>Using Arrays with Methods</vt:lpstr>
      <vt:lpstr>Multi-Dimensional Arrays</vt:lpstr>
      <vt:lpstr>Two-Dimensional Arrays</vt:lpstr>
      <vt:lpstr>Declaring Two-Dimensional Arrays</vt:lpstr>
      <vt:lpstr>Syntax 6.3 2D Array Declaration</vt:lpstr>
      <vt:lpstr>Accessing Elements</vt:lpstr>
      <vt:lpstr>Medals.java (1)</vt:lpstr>
      <vt:lpstr>Medals.java (2)</vt:lpstr>
      <vt:lpstr>ArrayList</vt:lpstr>
      <vt:lpstr>Array Lists</vt:lpstr>
      <vt:lpstr>Declaring and Using Array Lists</vt:lpstr>
      <vt:lpstr>Syntax 6.4 Array Lists</vt:lpstr>
      <vt:lpstr>Adding an Element with add()</vt:lpstr>
      <vt:lpstr>Adding an Element in the Middle</vt:lpstr>
      <vt:lpstr>Removing an Element</vt:lpstr>
      <vt:lpstr>Using Loops with Array Lists</vt:lpstr>
      <vt:lpstr>Working with Array Lists</vt:lpstr>
      <vt:lpstr>Copying an ArrayList</vt:lpstr>
      <vt:lpstr>Array Lists and Methods</vt:lpstr>
      <vt:lpstr>Wrappers and Auto-boxing</vt:lpstr>
      <vt:lpstr>Wrappers and Auto-boxing</vt:lpstr>
      <vt:lpstr>ArrayList Algorithms</vt:lpstr>
      <vt:lpstr>Choosing Arrays or Array Lists</vt:lpstr>
      <vt:lpstr>Array and Array List Operations</vt:lpstr>
      <vt:lpstr>Self Check 6.39</vt:lpstr>
      <vt:lpstr>Self Check 6.40</vt:lpstr>
      <vt:lpstr>Common Error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GDonini</dc:creator>
  <cp:lastModifiedBy>Haluk O. Bingol</cp:lastModifiedBy>
  <cp:revision>4</cp:revision>
  <dcterms:created xsi:type="dcterms:W3CDTF">2016-01-18T23:19:13Z</dcterms:created>
  <dcterms:modified xsi:type="dcterms:W3CDTF">2026-03-16T10:22:05Z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2016-01-18T00:00:00Z</vt:filetime>
  </property>
  <property fmtid="{D5CDD505-2E9C-101B-9397-08002B2CF9AE}" pid="3" name="Creator">
    <vt:lpwstr>Chromium</vt:lpwstr>
  </property>
  <property fmtid="{D5CDD505-2E9C-101B-9397-08002B2CF9AE}" pid="4" name="LastSaved">
    <vt:filetime>2016-01-18T00:00:00Z</vt:filetime>
  </property>
</Properties>
</file>